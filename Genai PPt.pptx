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Bebas Neue Cyrillic" panose="020B0604020202020204" charset="0"/>
      <p:regular r:id="rId15"/>
    </p:embeddedFont>
    <p:embeddedFont>
      <p:font typeface="Poppins" panose="00000500000000000000" pitchFamily="2" charset="0"/>
      <p:regular r:id="rId16"/>
    </p:embeddedFont>
    <p:embeddedFont>
      <p:font typeface="Poppins Bold" panose="00000800000000000000"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5.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10.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283282" y="-104775"/>
            <a:ext cx="5079898" cy="5079898"/>
          </a:xfrm>
          <a:custGeom>
            <a:avLst/>
            <a:gdLst/>
            <a:ahLst/>
            <a:cxnLst/>
            <a:rect l="l" t="t" r="r" b="b"/>
            <a:pathLst>
              <a:path w="5079898" h="5079898">
                <a:moveTo>
                  <a:pt x="5079898" y="5079898"/>
                </a:moveTo>
                <a:lnTo>
                  <a:pt x="0" y="5079898"/>
                </a:lnTo>
                <a:lnTo>
                  <a:pt x="0" y="0"/>
                </a:lnTo>
                <a:lnTo>
                  <a:pt x="5079898" y="0"/>
                </a:lnTo>
                <a:lnTo>
                  <a:pt x="5079898" y="5079898"/>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2224512" y="-90161"/>
            <a:ext cx="1219433" cy="3457155"/>
          </a:xfrm>
          <a:custGeom>
            <a:avLst/>
            <a:gdLst/>
            <a:ahLst/>
            <a:cxnLst/>
            <a:rect l="l" t="t" r="r" b="b"/>
            <a:pathLst>
              <a:path w="1219433" h="3457155">
                <a:moveTo>
                  <a:pt x="0" y="0"/>
                </a:moveTo>
                <a:lnTo>
                  <a:pt x="1219433" y="0"/>
                </a:lnTo>
                <a:lnTo>
                  <a:pt x="1219433" y="3457155"/>
                </a:lnTo>
                <a:lnTo>
                  <a:pt x="0" y="345715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5202313" y="1930171"/>
            <a:ext cx="14346313" cy="8571922"/>
          </a:xfrm>
          <a:custGeom>
            <a:avLst/>
            <a:gdLst/>
            <a:ahLst/>
            <a:cxnLst/>
            <a:rect l="l" t="t" r="r" b="b"/>
            <a:pathLst>
              <a:path w="14346313" h="8571922">
                <a:moveTo>
                  <a:pt x="14346313" y="0"/>
                </a:moveTo>
                <a:lnTo>
                  <a:pt x="0" y="0"/>
                </a:lnTo>
                <a:lnTo>
                  <a:pt x="0" y="8571923"/>
                </a:lnTo>
                <a:lnTo>
                  <a:pt x="14346313" y="8571923"/>
                </a:lnTo>
                <a:lnTo>
                  <a:pt x="14346313" y="0"/>
                </a:lnTo>
                <a:close/>
              </a:path>
            </a:pathLst>
          </a:custGeom>
          <a:blipFill>
            <a:blip r:embed="rId4"/>
            <a:stretch>
              <a:fillRect/>
            </a:stretch>
          </a:blipFill>
        </p:spPr>
      </p:sp>
      <p:sp>
        <p:nvSpPr>
          <p:cNvPr id="5" name="TextBox 5"/>
          <p:cNvSpPr txBox="1"/>
          <p:nvPr/>
        </p:nvSpPr>
        <p:spPr>
          <a:xfrm>
            <a:off x="4790314" y="1653946"/>
            <a:ext cx="8265460" cy="2431188"/>
          </a:xfrm>
          <a:prstGeom prst="rect">
            <a:avLst/>
          </a:prstGeom>
        </p:spPr>
        <p:txBody>
          <a:bodyPr lIns="0" tIns="0" rIns="0" bIns="0" rtlCol="0" anchor="t">
            <a:spAutoFit/>
          </a:bodyPr>
          <a:lstStyle/>
          <a:p>
            <a:pPr algn="ctr">
              <a:lnSpc>
                <a:spcPts val="19822"/>
              </a:lnSpc>
              <a:spcBef>
                <a:spcPct val="0"/>
              </a:spcBef>
            </a:pPr>
            <a:r>
              <a:rPr lang="en-US" sz="14158">
                <a:solidFill>
                  <a:srgbClr val="375CAC"/>
                </a:solidFill>
                <a:latin typeface="Bebas Neue Cyrillic"/>
                <a:ea typeface="Bebas Neue Cyrillic"/>
                <a:cs typeface="Bebas Neue Cyrillic"/>
                <a:sym typeface="Bebas Neue Cyrillic"/>
              </a:rPr>
              <a:t>DEAL PULSE AI</a:t>
            </a:r>
          </a:p>
        </p:txBody>
      </p:sp>
      <p:sp>
        <p:nvSpPr>
          <p:cNvPr id="6" name="TextBox 6"/>
          <p:cNvSpPr txBox="1"/>
          <p:nvPr/>
        </p:nvSpPr>
        <p:spPr>
          <a:xfrm>
            <a:off x="5342743" y="3793098"/>
            <a:ext cx="13516447" cy="2207941"/>
          </a:xfrm>
          <a:prstGeom prst="rect">
            <a:avLst/>
          </a:prstGeom>
        </p:spPr>
        <p:txBody>
          <a:bodyPr lIns="0" tIns="0" rIns="0" bIns="0" rtlCol="0" anchor="t">
            <a:spAutoFit/>
          </a:bodyPr>
          <a:lstStyle/>
          <a:p>
            <a:pPr algn="l">
              <a:lnSpc>
                <a:spcPts val="4189"/>
              </a:lnSpc>
            </a:pPr>
            <a:r>
              <a:rPr lang="en-US" sz="2992">
                <a:solidFill>
                  <a:srgbClr val="273DAC"/>
                </a:solidFill>
                <a:latin typeface="Poppins"/>
                <a:ea typeface="Poppins"/>
                <a:cs typeface="Poppins"/>
                <a:sym typeface="Poppins"/>
              </a:rPr>
              <a:t>Smart Opportunity Stage Predictor</a:t>
            </a:r>
          </a:p>
          <a:p>
            <a:pPr algn="l">
              <a:lnSpc>
                <a:spcPts val="3365"/>
              </a:lnSpc>
            </a:pPr>
            <a:endParaRPr lang="en-US" sz="2992">
              <a:solidFill>
                <a:srgbClr val="273DAC"/>
              </a:solidFill>
              <a:latin typeface="Poppins"/>
              <a:ea typeface="Poppins"/>
              <a:cs typeface="Poppins"/>
              <a:sym typeface="Poppins"/>
            </a:endParaRPr>
          </a:p>
          <a:p>
            <a:pPr algn="l">
              <a:lnSpc>
                <a:spcPts val="3365"/>
              </a:lnSpc>
            </a:pPr>
            <a:endParaRPr lang="en-US" sz="2992">
              <a:solidFill>
                <a:srgbClr val="273DAC"/>
              </a:solidFill>
              <a:latin typeface="Poppins"/>
              <a:ea typeface="Poppins"/>
              <a:cs typeface="Poppins"/>
              <a:sym typeface="Poppins"/>
            </a:endParaRPr>
          </a:p>
          <a:p>
            <a:pPr algn="l">
              <a:lnSpc>
                <a:spcPts val="3365"/>
              </a:lnSpc>
            </a:pPr>
            <a:endParaRPr lang="en-US" sz="2992">
              <a:solidFill>
                <a:srgbClr val="273DAC"/>
              </a:solidFill>
              <a:latin typeface="Poppins"/>
              <a:ea typeface="Poppins"/>
              <a:cs typeface="Poppins"/>
              <a:sym typeface="Poppins"/>
            </a:endParaRPr>
          </a:p>
          <a:p>
            <a:pPr algn="l">
              <a:lnSpc>
                <a:spcPts val="3365"/>
              </a:lnSpc>
            </a:pPr>
            <a:endParaRPr lang="en-US" sz="2992">
              <a:solidFill>
                <a:srgbClr val="273DAC"/>
              </a:solidFill>
              <a:latin typeface="Poppins"/>
              <a:ea typeface="Poppins"/>
              <a:cs typeface="Poppins"/>
              <a:sym typeface="Poppins"/>
            </a:endParaRPr>
          </a:p>
        </p:txBody>
      </p:sp>
      <p:sp>
        <p:nvSpPr>
          <p:cNvPr id="7" name="TextBox 7"/>
          <p:cNvSpPr txBox="1"/>
          <p:nvPr/>
        </p:nvSpPr>
        <p:spPr>
          <a:xfrm>
            <a:off x="3564744" y="5048250"/>
            <a:ext cx="9013268" cy="3752138"/>
          </a:xfrm>
          <a:prstGeom prst="rect">
            <a:avLst/>
          </a:prstGeom>
        </p:spPr>
        <p:txBody>
          <a:bodyPr lIns="0" tIns="0" rIns="0" bIns="0" rtlCol="0" anchor="t">
            <a:spAutoFit/>
          </a:bodyPr>
          <a:lstStyle/>
          <a:p>
            <a:pPr algn="l">
              <a:lnSpc>
                <a:spcPts val="4239"/>
              </a:lnSpc>
            </a:pPr>
            <a:r>
              <a:rPr lang="en-US" sz="3028" b="1">
                <a:solidFill>
                  <a:srgbClr val="273DAC"/>
                </a:solidFill>
                <a:latin typeface="Poppins Bold"/>
                <a:ea typeface="Poppins Bold"/>
                <a:cs typeface="Poppins Bold"/>
                <a:sym typeface="Poppins Bold"/>
              </a:rPr>
              <a:t>Team Members:</a:t>
            </a:r>
          </a:p>
          <a:p>
            <a:pPr marL="653756" lvl="1" indent="-326878" algn="l">
              <a:lnSpc>
                <a:spcPts val="4239"/>
              </a:lnSpc>
              <a:buFont typeface="Arial"/>
              <a:buChar char="•"/>
            </a:pPr>
            <a:r>
              <a:rPr lang="en-US" sz="3028">
                <a:solidFill>
                  <a:srgbClr val="273DAC"/>
                </a:solidFill>
                <a:latin typeface="Poppins"/>
                <a:ea typeface="Poppins"/>
                <a:cs typeface="Poppins"/>
                <a:sym typeface="Poppins"/>
              </a:rPr>
              <a:t>Navya (AP23110011406)</a:t>
            </a:r>
          </a:p>
          <a:p>
            <a:pPr marL="653756" lvl="1" indent="-326878" algn="l">
              <a:lnSpc>
                <a:spcPts val="4239"/>
              </a:lnSpc>
              <a:buFont typeface="Arial"/>
              <a:buChar char="•"/>
            </a:pPr>
            <a:r>
              <a:rPr lang="en-US" sz="3028">
                <a:solidFill>
                  <a:srgbClr val="273DAC"/>
                </a:solidFill>
                <a:latin typeface="Poppins"/>
                <a:ea typeface="Poppins"/>
                <a:cs typeface="Poppins"/>
                <a:sym typeface="Poppins"/>
              </a:rPr>
              <a:t>Nikitha (AP23110011376)</a:t>
            </a:r>
          </a:p>
          <a:p>
            <a:pPr marL="653756" lvl="1" indent="-326878" algn="l">
              <a:lnSpc>
                <a:spcPts val="4239"/>
              </a:lnSpc>
              <a:buFont typeface="Arial"/>
              <a:buChar char="•"/>
            </a:pPr>
            <a:r>
              <a:rPr lang="en-US" sz="3028">
                <a:solidFill>
                  <a:srgbClr val="273DAC"/>
                </a:solidFill>
                <a:latin typeface="Poppins"/>
                <a:ea typeface="Poppins"/>
                <a:cs typeface="Poppins"/>
                <a:sym typeface="Poppins"/>
              </a:rPr>
              <a:t>Evangeline (AP23110011389)</a:t>
            </a:r>
          </a:p>
          <a:p>
            <a:pPr algn="l">
              <a:lnSpc>
                <a:spcPts val="4239"/>
              </a:lnSpc>
            </a:pPr>
            <a:r>
              <a:rPr lang="en-US" sz="3028" b="1">
                <a:solidFill>
                  <a:srgbClr val="273DAC"/>
                </a:solidFill>
                <a:latin typeface="Poppins Bold"/>
                <a:ea typeface="Poppins Bold"/>
                <a:cs typeface="Poppins Bold"/>
                <a:sym typeface="Poppins Bold"/>
              </a:rPr>
              <a:t>Course:</a:t>
            </a:r>
            <a:r>
              <a:rPr lang="en-US" sz="3028">
                <a:solidFill>
                  <a:srgbClr val="273DAC"/>
                </a:solidFill>
                <a:latin typeface="Poppins"/>
                <a:ea typeface="Poppins"/>
                <a:cs typeface="Poppins"/>
                <a:sym typeface="Poppins"/>
              </a:rPr>
              <a:t> Generative AI</a:t>
            </a:r>
          </a:p>
          <a:p>
            <a:pPr algn="l">
              <a:lnSpc>
                <a:spcPts val="4239"/>
              </a:lnSpc>
            </a:pPr>
            <a:r>
              <a:rPr lang="en-US" sz="3028" b="1">
                <a:solidFill>
                  <a:srgbClr val="273DAC"/>
                </a:solidFill>
                <a:latin typeface="Poppins Bold"/>
                <a:ea typeface="Poppins Bold"/>
                <a:cs typeface="Poppins Bold"/>
                <a:sym typeface="Poppins Bold"/>
              </a:rPr>
              <a:t>College:</a:t>
            </a:r>
            <a:r>
              <a:rPr lang="en-US" sz="3028">
                <a:solidFill>
                  <a:srgbClr val="273DAC"/>
                </a:solidFill>
                <a:latin typeface="Poppins"/>
                <a:ea typeface="Poppins"/>
                <a:cs typeface="Poppins"/>
                <a:sym typeface="Poppins"/>
              </a:rPr>
              <a:t> SRM University–AP</a:t>
            </a:r>
          </a:p>
          <a:p>
            <a:pPr algn="l">
              <a:lnSpc>
                <a:spcPts val="4239"/>
              </a:lnSpc>
            </a:pPr>
            <a:endParaRPr lang="en-US" sz="3028">
              <a:solidFill>
                <a:srgbClr val="273DAC"/>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41687" y="1885633"/>
            <a:ext cx="14346313" cy="8571922"/>
          </a:xfrm>
          <a:custGeom>
            <a:avLst/>
            <a:gdLst/>
            <a:ahLst/>
            <a:cxnLst/>
            <a:rect l="l" t="t" r="r" b="b"/>
            <a:pathLst>
              <a:path w="14346313" h="8571922">
                <a:moveTo>
                  <a:pt x="0" y="0"/>
                </a:moveTo>
                <a:lnTo>
                  <a:pt x="14346313" y="0"/>
                </a:lnTo>
                <a:lnTo>
                  <a:pt x="14346313" y="8571922"/>
                </a:lnTo>
                <a:lnTo>
                  <a:pt x="0" y="8571922"/>
                </a:lnTo>
                <a:lnTo>
                  <a:pt x="0" y="0"/>
                </a:lnTo>
                <a:close/>
              </a:path>
            </a:pathLst>
          </a:custGeom>
          <a:blipFill>
            <a:blip r:embed="rId2"/>
            <a:stretch>
              <a:fillRect/>
            </a:stretch>
          </a:blipFill>
        </p:spPr>
      </p:sp>
      <p:sp>
        <p:nvSpPr>
          <p:cNvPr id="3" name="Freeform 3"/>
          <p:cNvSpPr/>
          <p:nvPr/>
        </p:nvSpPr>
        <p:spPr>
          <a:xfrm>
            <a:off x="1028700" y="959933"/>
            <a:ext cx="17259300" cy="3563339"/>
          </a:xfrm>
          <a:custGeom>
            <a:avLst/>
            <a:gdLst/>
            <a:ahLst/>
            <a:cxnLst/>
            <a:rect l="l" t="t" r="r" b="b"/>
            <a:pathLst>
              <a:path w="17259300" h="3563339">
                <a:moveTo>
                  <a:pt x="0" y="0"/>
                </a:moveTo>
                <a:lnTo>
                  <a:pt x="17259300" y="0"/>
                </a:lnTo>
                <a:lnTo>
                  <a:pt x="17259300" y="3563339"/>
                </a:lnTo>
                <a:lnTo>
                  <a:pt x="0" y="3563339"/>
                </a:lnTo>
                <a:lnTo>
                  <a:pt x="0" y="0"/>
                </a:lnTo>
                <a:close/>
              </a:path>
            </a:pathLst>
          </a:custGeom>
          <a:blipFill>
            <a:blip>
              <a:alphaModFix amt="12000"/>
              <a:extLst>
                <a:ext uri="{96DAC541-7B7A-43D3-8B79-37D633B846F1}">
                  <asvg:svgBlip xmlns:asvg="http://schemas.microsoft.com/office/drawing/2016/SVG/main" r:embed="rId3"/>
                </a:ext>
              </a:extLst>
            </a:blip>
            <a:stretch>
              <a:fillRect/>
            </a:stretch>
          </a:blipFill>
        </p:spPr>
      </p:sp>
      <p:sp>
        <p:nvSpPr>
          <p:cNvPr id="4" name="Freeform 4"/>
          <p:cNvSpPr/>
          <p:nvPr/>
        </p:nvSpPr>
        <p:spPr>
          <a:xfrm>
            <a:off x="14215599" y="1028700"/>
            <a:ext cx="3043701" cy="990586"/>
          </a:xfrm>
          <a:custGeom>
            <a:avLst/>
            <a:gdLst/>
            <a:ahLst/>
            <a:cxnLst/>
            <a:rect l="l" t="t" r="r" b="b"/>
            <a:pathLst>
              <a:path w="3043701" h="990586">
                <a:moveTo>
                  <a:pt x="0" y="0"/>
                </a:moveTo>
                <a:lnTo>
                  <a:pt x="3043701" y="0"/>
                </a:lnTo>
                <a:lnTo>
                  <a:pt x="3043701" y="990586"/>
                </a:lnTo>
                <a:lnTo>
                  <a:pt x="0" y="99058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8676640"/>
            <a:ext cx="1692661" cy="581660"/>
          </a:xfrm>
          <a:custGeom>
            <a:avLst/>
            <a:gdLst/>
            <a:ahLst/>
            <a:cxnLst/>
            <a:rect l="l" t="t" r="r" b="b"/>
            <a:pathLst>
              <a:path w="1692661" h="581660">
                <a:moveTo>
                  <a:pt x="0" y="0"/>
                </a:moveTo>
                <a:lnTo>
                  <a:pt x="1692661" y="0"/>
                </a:lnTo>
                <a:lnTo>
                  <a:pt x="1692661" y="581660"/>
                </a:lnTo>
                <a:lnTo>
                  <a:pt x="0" y="58166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0" y="1126007"/>
            <a:ext cx="13309594" cy="1975422"/>
          </a:xfrm>
          <a:prstGeom prst="rect">
            <a:avLst/>
          </a:prstGeom>
        </p:spPr>
        <p:txBody>
          <a:bodyPr lIns="0" tIns="0" rIns="0" bIns="0" rtlCol="0" anchor="t">
            <a:spAutoFit/>
          </a:bodyPr>
          <a:lstStyle/>
          <a:p>
            <a:pPr algn="ctr">
              <a:lnSpc>
                <a:spcPts val="16039"/>
              </a:lnSpc>
            </a:pPr>
            <a:r>
              <a:rPr lang="en-US" sz="11456">
                <a:solidFill>
                  <a:srgbClr val="273DAC"/>
                </a:solidFill>
                <a:latin typeface="Bebas Neue Cyrillic"/>
                <a:ea typeface="Bebas Neue Cyrillic"/>
                <a:cs typeface="Bebas Neue Cyrillic"/>
                <a:sym typeface="Bebas Neue Cyrillic"/>
              </a:rPr>
              <a:t>PROBLEM STATEMENT</a:t>
            </a:r>
          </a:p>
        </p:txBody>
      </p:sp>
      <p:sp>
        <p:nvSpPr>
          <p:cNvPr id="7" name="TextBox 7"/>
          <p:cNvSpPr txBox="1"/>
          <p:nvPr/>
        </p:nvSpPr>
        <p:spPr>
          <a:xfrm>
            <a:off x="1205682" y="3780876"/>
            <a:ext cx="13378560" cy="4149642"/>
          </a:xfrm>
          <a:prstGeom prst="rect">
            <a:avLst/>
          </a:prstGeom>
        </p:spPr>
        <p:txBody>
          <a:bodyPr lIns="0" tIns="0" rIns="0" bIns="0" rtlCol="0" anchor="t">
            <a:spAutoFit/>
          </a:bodyPr>
          <a:lstStyle/>
          <a:p>
            <a:pPr algn="l">
              <a:lnSpc>
                <a:spcPts val="3657"/>
              </a:lnSpc>
            </a:pPr>
            <a:r>
              <a:rPr lang="en-US" sz="2612">
                <a:solidFill>
                  <a:srgbClr val="273DAC"/>
                </a:solidFill>
                <a:latin typeface="Poppins"/>
                <a:ea typeface="Poppins"/>
                <a:cs typeface="Poppins"/>
                <a:sym typeface="Poppins"/>
              </a:rPr>
              <a:t>In modern CRM systems, deal stages are updated manually by sales representatives, which often leads to delays, human errors, and inconsistent data. This makes it difficult for organizations to accurately track the sales pipeline and make timely business decisions.</a:t>
            </a:r>
          </a:p>
          <a:p>
            <a:pPr algn="l">
              <a:lnSpc>
                <a:spcPts val="3657"/>
              </a:lnSpc>
            </a:pPr>
            <a:endParaRPr lang="en-US" sz="2612">
              <a:solidFill>
                <a:srgbClr val="273DAC"/>
              </a:solidFill>
              <a:latin typeface="Poppins"/>
              <a:ea typeface="Poppins"/>
              <a:cs typeface="Poppins"/>
              <a:sym typeface="Poppins"/>
            </a:endParaRPr>
          </a:p>
          <a:p>
            <a:pPr algn="l">
              <a:lnSpc>
                <a:spcPts val="3657"/>
              </a:lnSpc>
            </a:pPr>
            <a:r>
              <a:rPr lang="en-US" sz="2612">
                <a:solidFill>
                  <a:srgbClr val="273DAC"/>
                </a:solidFill>
                <a:latin typeface="Poppins"/>
                <a:ea typeface="Poppins"/>
                <a:cs typeface="Poppins"/>
                <a:sym typeface="Poppins"/>
              </a:rPr>
              <a:t>There is a need for an intelligent system that can automatically analyze CRM notes and predict the correct deal stage using AI, thereby improving efficiency, accuracy, and real-time decision-making.</a:t>
            </a:r>
          </a:p>
          <a:p>
            <a:pPr algn="l">
              <a:lnSpc>
                <a:spcPts val="3657"/>
              </a:lnSpc>
            </a:pPr>
            <a:endParaRPr lang="en-US" sz="2612">
              <a:solidFill>
                <a:srgbClr val="273DAC"/>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002026"/>
            <a:ext cx="13391331" cy="5284974"/>
          </a:xfrm>
          <a:custGeom>
            <a:avLst/>
            <a:gdLst/>
            <a:ahLst/>
            <a:cxnLst/>
            <a:rect l="l" t="t" r="r" b="b"/>
            <a:pathLst>
              <a:path w="13391331" h="5284974">
                <a:moveTo>
                  <a:pt x="0" y="0"/>
                </a:moveTo>
                <a:lnTo>
                  <a:pt x="13391331" y="0"/>
                </a:lnTo>
                <a:lnTo>
                  <a:pt x="13391331" y="5284974"/>
                </a:lnTo>
                <a:lnTo>
                  <a:pt x="0" y="5284974"/>
                </a:lnTo>
                <a:lnTo>
                  <a:pt x="0" y="0"/>
                </a:lnTo>
                <a:close/>
              </a:path>
            </a:pathLst>
          </a:custGeom>
          <a:blipFill>
            <a:blip>
              <a:extLst>
                <a:ext uri="{96DAC541-7B7A-43D3-8B79-37D633B846F1}">
                  <asvg:svgBlip xmlns:asvg="http://schemas.microsoft.com/office/drawing/2016/SVG/main" r:embed="rId2"/>
                </a:ext>
              </a:extLst>
            </a:blip>
            <a:stretch>
              <a:fillRect r="-138626" b="-50757"/>
            </a:stretch>
          </a:blipFill>
        </p:spPr>
      </p:sp>
      <p:sp>
        <p:nvSpPr>
          <p:cNvPr id="3" name="Freeform 3"/>
          <p:cNvSpPr/>
          <p:nvPr/>
        </p:nvSpPr>
        <p:spPr>
          <a:xfrm rot="-10800000">
            <a:off x="15549135" y="1028700"/>
            <a:ext cx="1710165" cy="1710165"/>
          </a:xfrm>
          <a:custGeom>
            <a:avLst/>
            <a:gdLst/>
            <a:ahLst/>
            <a:cxnLst/>
            <a:rect l="l" t="t" r="r" b="b"/>
            <a:pathLst>
              <a:path w="1710165" h="1710165">
                <a:moveTo>
                  <a:pt x="0" y="0"/>
                </a:moveTo>
                <a:lnTo>
                  <a:pt x="1710165" y="0"/>
                </a:lnTo>
                <a:lnTo>
                  <a:pt x="1710165" y="1710165"/>
                </a:lnTo>
                <a:lnTo>
                  <a:pt x="0" y="17101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859468" y="8477264"/>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855186" y="534026"/>
            <a:ext cx="8536145"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OBJECTIVES</a:t>
            </a:r>
          </a:p>
        </p:txBody>
      </p:sp>
      <p:sp>
        <p:nvSpPr>
          <p:cNvPr id="7" name="TextBox 7"/>
          <p:cNvSpPr txBox="1"/>
          <p:nvPr/>
        </p:nvSpPr>
        <p:spPr>
          <a:xfrm>
            <a:off x="4001633" y="3589626"/>
            <a:ext cx="10658731" cy="3513841"/>
          </a:xfrm>
          <a:prstGeom prst="rect">
            <a:avLst/>
          </a:prstGeom>
        </p:spPr>
        <p:txBody>
          <a:bodyPr lIns="0" tIns="0" rIns="0" bIns="0" rtlCol="0" anchor="t">
            <a:spAutoFit/>
          </a:bodyPr>
          <a:lstStyle/>
          <a:p>
            <a:pPr marL="714111" lvl="1" indent="-357055" algn="l">
              <a:lnSpc>
                <a:spcPts val="4630"/>
              </a:lnSpc>
              <a:buFont typeface="Arial"/>
              <a:buChar char="•"/>
            </a:pPr>
            <a:r>
              <a:rPr lang="en-US" sz="3307">
                <a:solidFill>
                  <a:srgbClr val="273DAC"/>
                </a:solidFill>
                <a:latin typeface="Poppins"/>
                <a:ea typeface="Poppins"/>
                <a:cs typeface="Poppins"/>
                <a:sym typeface="Poppins"/>
              </a:rPr>
              <a:t>Automatically predict the deal stage using AI</a:t>
            </a:r>
          </a:p>
          <a:p>
            <a:pPr marL="714111" lvl="1" indent="-357055" algn="l">
              <a:lnSpc>
                <a:spcPts val="4630"/>
              </a:lnSpc>
              <a:buFont typeface="Arial"/>
              <a:buChar char="•"/>
            </a:pPr>
            <a:r>
              <a:rPr lang="en-US" sz="3307">
                <a:solidFill>
                  <a:srgbClr val="273DAC"/>
                </a:solidFill>
                <a:latin typeface="Poppins"/>
                <a:ea typeface="Poppins"/>
                <a:cs typeface="Poppins"/>
                <a:sym typeface="Poppins"/>
              </a:rPr>
              <a:t>Use CRM notes (text data) as input</a:t>
            </a:r>
          </a:p>
          <a:p>
            <a:pPr marL="714111" lvl="1" indent="-357055" algn="l">
              <a:lnSpc>
                <a:spcPts val="4630"/>
              </a:lnSpc>
              <a:buFont typeface="Arial"/>
              <a:buChar char="•"/>
            </a:pPr>
            <a:r>
              <a:rPr lang="en-US" sz="3307">
                <a:solidFill>
                  <a:srgbClr val="273DAC"/>
                </a:solidFill>
                <a:latin typeface="Poppins"/>
                <a:ea typeface="Poppins"/>
                <a:cs typeface="Poppins"/>
                <a:sym typeface="Poppins"/>
              </a:rPr>
              <a:t>Reduce manual effort in updating stages</a:t>
            </a:r>
          </a:p>
          <a:p>
            <a:pPr marL="714111" lvl="1" indent="-357055" algn="l">
              <a:lnSpc>
                <a:spcPts val="4630"/>
              </a:lnSpc>
              <a:buFont typeface="Arial"/>
              <a:buChar char="•"/>
            </a:pPr>
            <a:r>
              <a:rPr lang="en-US" sz="3307">
                <a:solidFill>
                  <a:srgbClr val="273DAC"/>
                </a:solidFill>
                <a:latin typeface="Poppins"/>
                <a:ea typeface="Poppins"/>
                <a:cs typeface="Poppins"/>
                <a:sym typeface="Poppins"/>
              </a:rPr>
              <a:t>Improve prediction accuracy and consistency</a:t>
            </a:r>
          </a:p>
          <a:p>
            <a:pPr marL="714111" lvl="1" indent="-357055" algn="l">
              <a:lnSpc>
                <a:spcPts val="4630"/>
              </a:lnSpc>
              <a:buFont typeface="Arial"/>
              <a:buChar char="•"/>
            </a:pPr>
            <a:r>
              <a:rPr lang="en-US" sz="3307">
                <a:solidFill>
                  <a:srgbClr val="273DAC"/>
                </a:solidFill>
                <a:latin typeface="Poppins"/>
                <a:ea typeface="Poppins"/>
                <a:cs typeface="Poppins"/>
                <a:sym typeface="Poppins"/>
              </a:rPr>
              <a:t>Enable faster and better decision-making</a:t>
            </a:r>
          </a:p>
          <a:p>
            <a:pPr algn="l">
              <a:lnSpc>
                <a:spcPts val="4630"/>
              </a:lnSpc>
            </a:pPr>
            <a:endParaRPr lang="en-US" sz="3307">
              <a:solidFill>
                <a:srgbClr val="273DAC"/>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41849" y="4104650"/>
            <a:ext cx="659420" cy="425626"/>
          </a:xfrm>
          <a:custGeom>
            <a:avLst/>
            <a:gdLst/>
            <a:ahLst/>
            <a:cxnLst/>
            <a:rect l="l" t="t" r="r" b="b"/>
            <a:pathLst>
              <a:path w="659420" h="425626">
                <a:moveTo>
                  <a:pt x="0" y="0"/>
                </a:moveTo>
                <a:lnTo>
                  <a:pt x="659420" y="0"/>
                </a:lnTo>
                <a:lnTo>
                  <a:pt x="659420" y="425626"/>
                </a:lnTo>
                <a:lnTo>
                  <a:pt x="0" y="42562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2041849" y="6162417"/>
            <a:ext cx="659420" cy="425626"/>
          </a:xfrm>
          <a:custGeom>
            <a:avLst/>
            <a:gdLst/>
            <a:ahLst/>
            <a:cxnLst/>
            <a:rect l="l" t="t" r="r" b="b"/>
            <a:pathLst>
              <a:path w="659420" h="425626">
                <a:moveTo>
                  <a:pt x="0" y="0"/>
                </a:moveTo>
                <a:lnTo>
                  <a:pt x="659420" y="0"/>
                </a:lnTo>
                <a:lnTo>
                  <a:pt x="659420" y="425625"/>
                </a:lnTo>
                <a:lnTo>
                  <a:pt x="0" y="42562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3045874" y="862213"/>
            <a:ext cx="11424352"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DATASET &amp; INPUT</a:t>
            </a:r>
          </a:p>
        </p:txBody>
      </p:sp>
      <p:sp>
        <p:nvSpPr>
          <p:cNvPr id="5" name="Freeform 5"/>
          <p:cNvSpPr/>
          <p:nvPr/>
        </p:nvSpPr>
        <p:spPr>
          <a:xfrm flipH="1" flipV="1">
            <a:off x="8474323" y="-69476"/>
            <a:ext cx="9813677" cy="3873030"/>
          </a:xfrm>
          <a:custGeom>
            <a:avLst/>
            <a:gdLst/>
            <a:ahLst/>
            <a:cxnLst/>
            <a:rect l="l" t="t" r="r" b="b"/>
            <a:pathLst>
              <a:path w="9813677" h="3873030">
                <a:moveTo>
                  <a:pt x="9813677" y="3873030"/>
                </a:moveTo>
                <a:lnTo>
                  <a:pt x="0" y="3873030"/>
                </a:lnTo>
                <a:lnTo>
                  <a:pt x="0" y="0"/>
                </a:lnTo>
                <a:lnTo>
                  <a:pt x="9813677" y="0"/>
                </a:lnTo>
                <a:lnTo>
                  <a:pt x="9813677" y="3873030"/>
                </a:lnTo>
                <a:close/>
              </a:path>
            </a:pathLst>
          </a:custGeom>
          <a:blipFill>
            <a:blip>
              <a:extLst>
                <a:ext uri="{96DAC541-7B7A-43D3-8B79-37D633B846F1}">
                  <asvg:svgBlip xmlns:asvg="http://schemas.microsoft.com/office/drawing/2016/SVG/main" r:embed="rId3"/>
                </a:ext>
              </a:extLst>
            </a:blip>
            <a:stretch>
              <a:fillRect r="-138626" b="-50757"/>
            </a:stretch>
          </a:blipFill>
        </p:spPr>
      </p:sp>
      <p:sp>
        <p:nvSpPr>
          <p:cNvPr id="6" name="Freeform 6"/>
          <p:cNvSpPr/>
          <p:nvPr/>
        </p:nvSpPr>
        <p:spPr>
          <a:xfrm>
            <a:off x="16110161" y="5881279"/>
            <a:ext cx="1149139" cy="3257867"/>
          </a:xfrm>
          <a:custGeom>
            <a:avLst/>
            <a:gdLst/>
            <a:ahLst/>
            <a:cxnLst/>
            <a:rect l="l" t="t" r="r" b="b"/>
            <a:pathLst>
              <a:path w="1149139" h="3257867">
                <a:moveTo>
                  <a:pt x="0" y="0"/>
                </a:moveTo>
                <a:lnTo>
                  <a:pt x="1149139" y="0"/>
                </a:lnTo>
                <a:lnTo>
                  <a:pt x="1149139" y="3257867"/>
                </a:lnTo>
                <a:lnTo>
                  <a:pt x="0" y="325786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278563" y="3652752"/>
            <a:ext cx="11730874" cy="1659798"/>
          </a:xfrm>
          <a:prstGeom prst="rect">
            <a:avLst/>
          </a:prstGeom>
        </p:spPr>
        <p:txBody>
          <a:bodyPr lIns="0" tIns="0" rIns="0" bIns="0" rtlCol="0" anchor="t">
            <a:spAutoFit/>
          </a:bodyPr>
          <a:lstStyle/>
          <a:p>
            <a:pPr algn="l">
              <a:lnSpc>
                <a:spcPts val="4345"/>
              </a:lnSpc>
            </a:pPr>
            <a:r>
              <a:rPr lang="en-US" sz="3103">
                <a:solidFill>
                  <a:srgbClr val="273DAC"/>
                </a:solidFill>
                <a:latin typeface="Poppins"/>
                <a:ea typeface="Poppins"/>
                <a:cs typeface="Poppins"/>
                <a:sym typeface="Poppins"/>
              </a:rPr>
              <a:t>The dataset used is sales_pipeline.csv, which contains important sales details such as Deal ID, deal stage, and other sales-related information.</a:t>
            </a:r>
          </a:p>
        </p:txBody>
      </p:sp>
      <p:sp>
        <p:nvSpPr>
          <p:cNvPr id="8" name="Freeform 8"/>
          <p:cNvSpPr/>
          <p:nvPr/>
        </p:nvSpPr>
        <p:spPr>
          <a:xfrm>
            <a:off x="1171643" y="1028700"/>
            <a:ext cx="2399832" cy="781036"/>
          </a:xfrm>
          <a:custGeom>
            <a:avLst/>
            <a:gdLst/>
            <a:ahLst/>
            <a:cxnLst/>
            <a:rect l="l" t="t" r="r" b="b"/>
            <a:pathLst>
              <a:path w="2399832" h="781036">
                <a:moveTo>
                  <a:pt x="0" y="0"/>
                </a:moveTo>
                <a:lnTo>
                  <a:pt x="2399833" y="0"/>
                </a:lnTo>
                <a:lnTo>
                  <a:pt x="2399833" y="781036"/>
                </a:lnTo>
                <a:lnTo>
                  <a:pt x="0" y="7810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3278563" y="5548095"/>
            <a:ext cx="11362698" cy="1994169"/>
          </a:xfrm>
          <a:prstGeom prst="rect">
            <a:avLst/>
          </a:prstGeom>
        </p:spPr>
        <p:txBody>
          <a:bodyPr lIns="0" tIns="0" rIns="0" bIns="0" rtlCol="0" anchor="t">
            <a:spAutoFit/>
          </a:bodyPr>
          <a:lstStyle/>
          <a:p>
            <a:pPr algn="l">
              <a:lnSpc>
                <a:spcPts val="3925"/>
              </a:lnSpc>
            </a:pPr>
            <a:r>
              <a:rPr lang="en-US" sz="2804">
                <a:solidFill>
                  <a:srgbClr val="273DAC"/>
                </a:solidFill>
                <a:latin typeface="Poppins"/>
                <a:ea typeface="Poppins"/>
                <a:cs typeface="Poppins"/>
                <a:sym typeface="Poppins"/>
              </a:rPr>
              <a:t>This data is originally in a structured format, but since our model works with text, we convert it into CRM notes (text format). These notes act as the input for the AI model to understand the deal and predict its stage.</a:t>
            </a:r>
          </a:p>
        </p:txBody>
      </p:sp>
      <p:sp>
        <p:nvSpPr>
          <p:cNvPr id="10" name="Freeform 10"/>
          <p:cNvSpPr/>
          <p:nvPr/>
        </p:nvSpPr>
        <p:spPr>
          <a:xfrm>
            <a:off x="854908" y="6746530"/>
            <a:ext cx="17148534" cy="3540470"/>
          </a:xfrm>
          <a:custGeom>
            <a:avLst/>
            <a:gdLst/>
            <a:ahLst/>
            <a:cxnLst/>
            <a:rect l="l" t="t" r="r" b="b"/>
            <a:pathLst>
              <a:path w="17148534" h="3540470">
                <a:moveTo>
                  <a:pt x="0" y="0"/>
                </a:moveTo>
                <a:lnTo>
                  <a:pt x="17148534" y="0"/>
                </a:lnTo>
                <a:lnTo>
                  <a:pt x="17148534" y="3540470"/>
                </a:lnTo>
                <a:lnTo>
                  <a:pt x="0" y="3540470"/>
                </a:lnTo>
                <a:lnTo>
                  <a:pt x="0" y="0"/>
                </a:lnTo>
                <a:close/>
              </a:path>
            </a:pathLst>
          </a:custGeom>
          <a:blipFill>
            <a:blip>
              <a:alphaModFix amt="12000"/>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28897" y="2092532"/>
            <a:ext cx="7373873" cy="8844753"/>
          </a:xfrm>
          <a:prstGeom prst="rect">
            <a:avLst/>
          </a:prstGeom>
        </p:spPr>
        <p:txBody>
          <a:bodyPr lIns="0" tIns="0" rIns="0" bIns="0" rtlCol="0" anchor="t">
            <a:spAutoFit/>
          </a:bodyPr>
          <a:lstStyle/>
          <a:p>
            <a:pPr algn="l">
              <a:lnSpc>
                <a:spcPts val="4121"/>
              </a:lnSpc>
            </a:pPr>
            <a:r>
              <a:rPr lang="en-US" sz="2944">
                <a:solidFill>
                  <a:srgbClr val="273DAC"/>
                </a:solidFill>
                <a:latin typeface="Poppins"/>
                <a:ea typeface="Poppins"/>
                <a:cs typeface="Poppins"/>
                <a:sym typeface="Poppins"/>
              </a:rPr>
              <a:t>                        Raw Data</a:t>
            </a:r>
          </a:p>
          <a:p>
            <a:pPr algn="l">
              <a:lnSpc>
                <a:spcPts val="4121"/>
              </a:lnSpc>
            </a:pPr>
            <a:r>
              <a:rPr lang="en-US" sz="2944">
                <a:solidFill>
                  <a:srgbClr val="273DAC"/>
                </a:solidFill>
                <a:latin typeface="Poppins"/>
                <a:ea typeface="Poppins"/>
                <a:cs typeface="Poppins"/>
                <a:sym typeface="Poppins"/>
              </a:rPr>
              <a:t>                       </a:t>
            </a:r>
          </a:p>
          <a:p>
            <a:pPr algn="l">
              <a:lnSpc>
                <a:spcPts val="4121"/>
              </a:lnSpc>
            </a:pPr>
            <a:r>
              <a:rPr lang="en-US" sz="2944">
                <a:solidFill>
                  <a:srgbClr val="273DAC"/>
                </a:solidFill>
                <a:latin typeface="Poppins"/>
                <a:ea typeface="Poppins"/>
                <a:cs typeface="Poppins"/>
                <a:sym typeface="Poppins"/>
              </a:rPr>
              <a:t>                      CRM Notes</a:t>
            </a:r>
          </a:p>
          <a:p>
            <a:pPr algn="l">
              <a:lnSpc>
                <a:spcPts val="4121"/>
              </a:lnSpc>
            </a:pPr>
            <a:endParaRPr lang="en-US" sz="2944">
              <a:solidFill>
                <a:srgbClr val="273DAC"/>
              </a:solidFill>
              <a:latin typeface="Poppins"/>
              <a:ea typeface="Poppins"/>
              <a:cs typeface="Poppins"/>
              <a:sym typeface="Poppins"/>
            </a:endParaRPr>
          </a:p>
          <a:p>
            <a:pPr algn="l">
              <a:lnSpc>
                <a:spcPts val="4121"/>
              </a:lnSpc>
            </a:pPr>
            <a:r>
              <a:rPr lang="en-US" sz="2944">
                <a:solidFill>
                  <a:srgbClr val="273DAC"/>
                </a:solidFill>
                <a:latin typeface="Poppins"/>
                <a:ea typeface="Poppins"/>
                <a:cs typeface="Poppins"/>
                <a:sym typeface="Poppins"/>
              </a:rPr>
              <a:t>                   Preprocessing </a:t>
            </a:r>
          </a:p>
          <a:p>
            <a:pPr algn="l">
              <a:lnSpc>
                <a:spcPts val="4121"/>
              </a:lnSpc>
            </a:pPr>
            <a:r>
              <a:rPr lang="en-US" sz="2944">
                <a:solidFill>
                  <a:srgbClr val="273DAC"/>
                </a:solidFill>
                <a:latin typeface="Poppins"/>
                <a:ea typeface="Poppins"/>
                <a:cs typeface="Poppins"/>
                <a:sym typeface="Poppins"/>
              </a:rPr>
              <a:t> </a:t>
            </a:r>
          </a:p>
          <a:p>
            <a:pPr algn="l">
              <a:lnSpc>
                <a:spcPts val="4121"/>
              </a:lnSpc>
            </a:pPr>
            <a:r>
              <a:rPr lang="en-US" sz="2944">
                <a:solidFill>
                  <a:srgbClr val="273DAC"/>
                </a:solidFill>
                <a:latin typeface="Poppins"/>
                <a:ea typeface="Poppins"/>
                <a:cs typeface="Poppins"/>
                <a:sym typeface="Poppins"/>
              </a:rPr>
              <a:t>                    Tokenization </a:t>
            </a:r>
          </a:p>
          <a:p>
            <a:pPr algn="l">
              <a:lnSpc>
                <a:spcPts val="4121"/>
              </a:lnSpc>
            </a:pPr>
            <a:endParaRPr lang="en-US" sz="2944">
              <a:solidFill>
                <a:srgbClr val="273DAC"/>
              </a:solidFill>
              <a:latin typeface="Poppins"/>
              <a:ea typeface="Poppins"/>
              <a:cs typeface="Poppins"/>
              <a:sym typeface="Poppins"/>
            </a:endParaRPr>
          </a:p>
          <a:p>
            <a:pPr algn="l">
              <a:lnSpc>
                <a:spcPts val="4121"/>
              </a:lnSpc>
            </a:pPr>
            <a:r>
              <a:rPr lang="en-US" sz="2944">
                <a:solidFill>
                  <a:srgbClr val="273DAC"/>
                </a:solidFill>
                <a:latin typeface="Poppins"/>
                <a:ea typeface="Poppins"/>
                <a:cs typeface="Poppins"/>
                <a:sym typeface="Poppins"/>
              </a:rPr>
              <a:t>                          Model</a:t>
            </a:r>
          </a:p>
          <a:p>
            <a:pPr algn="l">
              <a:lnSpc>
                <a:spcPts val="4121"/>
              </a:lnSpc>
            </a:pPr>
            <a:endParaRPr lang="en-US" sz="2944">
              <a:solidFill>
                <a:srgbClr val="273DAC"/>
              </a:solidFill>
              <a:latin typeface="Poppins"/>
              <a:ea typeface="Poppins"/>
              <a:cs typeface="Poppins"/>
              <a:sym typeface="Poppins"/>
            </a:endParaRPr>
          </a:p>
          <a:p>
            <a:pPr algn="l">
              <a:lnSpc>
                <a:spcPts val="4121"/>
              </a:lnSpc>
            </a:pPr>
            <a:r>
              <a:rPr lang="en-US" sz="2944">
                <a:solidFill>
                  <a:srgbClr val="273DAC"/>
                </a:solidFill>
                <a:latin typeface="Poppins"/>
                <a:ea typeface="Poppins"/>
                <a:cs typeface="Poppins"/>
                <a:sym typeface="Poppins"/>
              </a:rPr>
              <a:t>                       Prediction </a:t>
            </a:r>
          </a:p>
          <a:p>
            <a:pPr algn="l">
              <a:lnSpc>
                <a:spcPts val="4121"/>
              </a:lnSpc>
            </a:pPr>
            <a:r>
              <a:rPr lang="en-US" sz="2944">
                <a:solidFill>
                  <a:srgbClr val="273DAC"/>
                </a:solidFill>
                <a:latin typeface="Poppins"/>
                <a:ea typeface="Poppins"/>
                <a:cs typeface="Poppins"/>
                <a:sym typeface="Poppins"/>
              </a:rPr>
              <a:t>                            </a:t>
            </a:r>
          </a:p>
          <a:p>
            <a:pPr algn="l">
              <a:lnSpc>
                <a:spcPts val="4121"/>
              </a:lnSpc>
            </a:pPr>
            <a:r>
              <a:rPr lang="en-US" sz="2944">
                <a:solidFill>
                  <a:srgbClr val="273DAC"/>
                </a:solidFill>
                <a:latin typeface="Poppins"/>
                <a:ea typeface="Poppins"/>
                <a:cs typeface="Poppins"/>
                <a:sym typeface="Poppins"/>
              </a:rPr>
              <a:t>                            API</a:t>
            </a:r>
          </a:p>
          <a:p>
            <a:pPr algn="l">
              <a:lnSpc>
                <a:spcPts val="4121"/>
              </a:lnSpc>
            </a:pPr>
            <a:endParaRPr lang="en-US" sz="2944">
              <a:solidFill>
                <a:srgbClr val="273DAC"/>
              </a:solidFill>
              <a:latin typeface="Poppins"/>
              <a:ea typeface="Poppins"/>
              <a:cs typeface="Poppins"/>
              <a:sym typeface="Poppins"/>
            </a:endParaRPr>
          </a:p>
          <a:p>
            <a:pPr algn="l">
              <a:lnSpc>
                <a:spcPts val="4121"/>
              </a:lnSpc>
            </a:pPr>
            <a:endParaRPr lang="en-US" sz="2944">
              <a:solidFill>
                <a:srgbClr val="273DAC"/>
              </a:solidFill>
              <a:latin typeface="Poppins"/>
              <a:ea typeface="Poppins"/>
              <a:cs typeface="Poppins"/>
              <a:sym typeface="Poppins"/>
            </a:endParaRPr>
          </a:p>
          <a:p>
            <a:pPr algn="l">
              <a:lnSpc>
                <a:spcPts val="4121"/>
              </a:lnSpc>
            </a:pPr>
            <a:endParaRPr lang="en-US" sz="2944">
              <a:solidFill>
                <a:srgbClr val="273DAC"/>
              </a:solidFill>
              <a:latin typeface="Poppins"/>
              <a:ea typeface="Poppins"/>
              <a:cs typeface="Poppins"/>
              <a:sym typeface="Poppins"/>
            </a:endParaRPr>
          </a:p>
          <a:p>
            <a:pPr algn="l">
              <a:lnSpc>
                <a:spcPts val="4121"/>
              </a:lnSpc>
            </a:pPr>
            <a:endParaRPr lang="en-US" sz="2944">
              <a:solidFill>
                <a:srgbClr val="273DAC"/>
              </a:solidFill>
              <a:latin typeface="Poppins"/>
              <a:ea typeface="Poppins"/>
              <a:cs typeface="Poppins"/>
              <a:sym typeface="Poppins"/>
            </a:endParaRPr>
          </a:p>
        </p:txBody>
      </p:sp>
      <p:sp>
        <p:nvSpPr>
          <p:cNvPr id="3" name="Freeform 3"/>
          <p:cNvSpPr/>
          <p:nvPr/>
        </p:nvSpPr>
        <p:spPr>
          <a:xfrm>
            <a:off x="16110161" y="1028700"/>
            <a:ext cx="1149139" cy="3257867"/>
          </a:xfrm>
          <a:custGeom>
            <a:avLst/>
            <a:gdLst/>
            <a:ahLst/>
            <a:cxnLst/>
            <a:rect l="l" t="t" r="r" b="b"/>
            <a:pathLst>
              <a:path w="1149139" h="3257867">
                <a:moveTo>
                  <a:pt x="0" y="0"/>
                </a:moveTo>
                <a:lnTo>
                  <a:pt x="1149139" y="0"/>
                </a:lnTo>
                <a:lnTo>
                  <a:pt x="1149139" y="3257867"/>
                </a:lnTo>
                <a:lnTo>
                  <a:pt x="0" y="32578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028700" y="8477264"/>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41284" y="149369"/>
            <a:ext cx="12259259" cy="2145230"/>
          </a:xfrm>
          <a:prstGeom prst="rect">
            <a:avLst/>
          </a:prstGeom>
        </p:spPr>
        <p:txBody>
          <a:bodyPr lIns="0" tIns="0" rIns="0" bIns="0" rtlCol="0" anchor="t">
            <a:spAutoFit/>
          </a:bodyPr>
          <a:lstStyle/>
          <a:p>
            <a:pPr algn="ctr">
              <a:lnSpc>
                <a:spcPts val="17519"/>
              </a:lnSpc>
            </a:pPr>
            <a:r>
              <a:rPr lang="en-US" sz="12513">
                <a:solidFill>
                  <a:srgbClr val="273DAC"/>
                </a:solidFill>
                <a:latin typeface="Bebas Neue Cyrillic"/>
                <a:ea typeface="Bebas Neue Cyrillic"/>
                <a:cs typeface="Bebas Neue Cyrillic"/>
                <a:sym typeface="Bebas Neue Cyrillic"/>
              </a:rPr>
              <a:t>PROJECT WORKFLOW</a:t>
            </a:r>
          </a:p>
        </p:txBody>
      </p:sp>
      <p:sp>
        <p:nvSpPr>
          <p:cNvPr id="6" name="Freeform 6"/>
          <p:cNvSpPr/>
          <p:nvPr/>
        </p:nvSpPr>
        <p:spPr>
          <a:xfrm flipH="1">
            <a:off x="0" y="-69706"/>
            <a:ext cx="11237755" cy="2320136"/>
          </a:xfrm>
          <a:custGeom>
            <a:avLst/>
            <a:gdLst/>
            <a:ahLst/>
            <a:cxnLst/>
            <a:rect l="l" t="t" r="r" b="b"/>
            <a:pathLst>
              <a:path w="11237755" h="2320136">
                <a:moveTo>
                  <a:pt x="11237755" y="0"/>
                </a:moveTo>
                <a:lnTo>
                  <a:pt x="0" y="0"/>
                </a:lnTo>
                <a:lnTo>
                  <a:pt x="0" y="2320137"/>
                </a:lnTo>
                <a:lnTo>
                  <a:pt x="11237755" y="2320137"/>
                </a:lnTo>
                <a:lnTo>
                  <a:pt x="11237755" y="0"/>
                </a:lnTo>
                <a:close/>
              </a:path>
            </a:pathLst>
          </a:custGeom>
          <a:blipFill>
            <a:blip>
              <a:alphaModFix amt="12000"/>
              <a:extLst>
                <a:ext uri="{96DAC541-7B7A-43D3-8B79-37D633B846F1}">
                  <asvg:svgBlip xmlns:asvg="http://schemas.microsoft.com/office/drawing/2016/SVG/main" r:embed="rId4"/>
                </a:ext>
              </a:extLst>
            </a:blip>
            <a:stretch>
              <a:fillRect/>
            </a:stretch>
          </a:blipFill>
        </p:spPr>
      </p:sp>
      <p:sp>
        <p:nvSpPr>
          <p:cNvPr id="7" name="Freeform 7"/>
          <p:cNvSpPr/>
          <p:nvPr/>
        </p:nvSpPr>
        <p:spPr>
          <a:xfrm>
            <a:off x="7328266" y="4530314"/>
            <a:ext cx="10959734" cy="5779601"/>
          </a:xfrm>
          <a:custGeom>
            <a:avLst/>
            <a:gdLst/>
            <a:ahLst/>
            <a:cxnLst/>
            <a:rect l="l" t="t" r="r" b="b"/>
            <a:pathLst>
              <a:path w="10959734" h="5779601">
                <a:moveTo>
                  <a:pt x="0" y="0"/>
                </a:moveTo>
                <a:lnTo>
                  <a:pt x="10959734" y="0"/>
                </a:lnTo>
                <a:lnTo>
                  <a:pt x="10959734" y="5779602"/>
                </a:lnTo>
                <a:lnTo>
                  <a:pt x="0" y="5779602"/>
                </a:lnTo>
                <a:lnTo>
                  <a:pt x="0" y="0"/>
                </a:lnTo>
                <a:close/>
              </a:path>
            </a:pathLst>
          </a:custGeom>
          <a:blipFill>
            <a:blip r:embed="rId5"/>
            <a:stretch>
              <a:fillRect t="-2998"/>
            </a:stretch>
          </a:blipFill>
        </p:spPr>
      </p:sp>
      <p:sp>
        <p:nvSpPr>
          <p:cNvPr id="8" name="Freeform 8"/>
          <p:cNvSpPr/>
          <p:nvPr/>
        </p:nvSpPr>
        <p:spPr>
          <a:xfrm rot="5400000">
            <a:off x="6657415" y="2805378"/>
            <a:ext cx="497666" cy="321221"/>
          </a:xfrm>
          <a:custGeom>
            <a:avLst/>
            <a:gdLst/>
            <a:ahLst/>
            <a:cxnLst/>
            <a:rect l="l" t="t" r="r" b="b"/>
            <a:pathLst>
              <a:path w="497666" h="321221">
                <a:moveTo>
                  <a:pt x="0" y="0"/>
                </a:moveTo>
                <a:lnTo>
                  <a:pt x="497666" y="0"/>
                </a:lnTo>
                <a:lnTo>
                  <a:pt x="497666" y="321221"/>
                </a:lnTo>
                <a:lnTo>
                  <a:pt x="0" y="32122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rot="5400000">
            <a:off x="6657415" y="3877124"/>
            <a:ext cx="497666" cy="321221"/>
          </a:xfrm>
          <a:custGeom>
            <a:avLst/>
            <a:gdLst/>
            <a:ahLst/>
            <a:cxnLst/>
            <a:rect l="l" t="t" r="r" b="b"/>
            <a:pathLst>
              <a:path w="497666" h="321221">
                <a:moveTo>
                  <a:pt x="0" y="0"/>
                </a:moveTo>
                <a:lnTo>
                  <a:pt x="497666" y="0"/>
                </a:lnTo>
                <a:lnTo>
                  <a:pt x="497666" y="321221"/>
                </a:lnTo>
                <a:lnTo>
                  <a:pt x="0" y="32122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Freeform 10"/>
          <p:cNvSpPr/>
          <p:nvPr/>
        </p:nvSpPr>
        <p:spPr>
          <a:xfrm rot="5400000">
            <a:off x="6657415" y="4845813"/>
            <a:ext cx="497666" cy="321221"/>
          </a:xfrm>
          <a:custGeom>
            <a:avLst/>
            <a:gdLst/>
            <a:ahLst/>
            <a:cxnLst/>
            <a:rect l="l" t="t" r="r" b="b"/>
            <a:pathLst>
              <a:path w="497666" h="321221">
                <a:moveTo>
                  <a:pt x="0" y="0"/>
                </a:moveTo>
                <a:lnTo>
                  <a:pt x="497666" y="0"/>
                </a:lnTo>
                <a:lnTo>
                  <a:pt x="497666" y="321221"/>
                </a:lnTo>
                <a:lnTo>
                  <a:pt x="0" y="32122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rot="5400000">
            <a:off x="6657415" y="5934030"/>
            <a:ext cx="497666" cy="321221"/>
          </a:xfrm>
          <a:custGeom>
            <a:avLst/>
            <a:gdLst/>
            <a:ahLst/>
            <a:cxnLst/>
            <a:rect l="l" t="t" r="r" b="b"/>
            <a:pathLst>
              <a:path w="497666" h="321221">
                <a:moveTo>
                  <a:pt x="0" y="0"/>
                </a:moveTo>
                <a:lnTo>
                  <a:pt x="497666" y="0"/>
                </a:lnTo>
                <a:lnTo>
                  <a:pt x="497666" y="321221"/>
                </a:lnTo>
                <a:lnTo>
                  <a:pt x="0" y="32122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Freeform 12"/>
          <p:cNvSpPr/>
          <p:nvPr/>
        </p:nvSpPr>
        <p:spPr>
          <a:xfrm rot="5400000">
            <a:off x="6685791" y="7018260"/>
            <a:ext cx="463176" cy="298959"/>
          </a:xfrm>
          <a:custGeom>
            <a:avLst/>
            <a:gdLst/>
            <a:ahLst/>
            <a:cxnLst/>
            <a:rect l="l" t="t" r="r" b="b"/>
            <a:pathLst>
              <a:path w="463176" h="298959">
                <a:moveTo>
                  <a:pt x="0" y="0"/>
                </a:moveTo>
                <a:lnTo>
                  <a:pt x="463176" y="0"/>
                </a:lnTo>
                <a:lnTo>
                  <a:pt x="463176" y="298959"/>
                </a:lnTo>
                <a:lnTo>
                  <a:pt x="0" y="29895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3" name="Freeform 13"/>
          <p:cNvSpPr/>
          <p:nvPr/>
        </p:nvSpPr>
        <p:spPr>
          <a:xfrm rot="5288053">
            <a:off x="6694274" y="8075541"/>
            <a:ext cx="456831" cy="294864"/>
          </a:xfrm>
          <a:custGeom>
            <a:avLst/>
            <a:gdLst/>
            <a:ahLst/>
            <a:cxnLst/>
            <a:rect l="l" t="t" r="r" b="b"/>
            <a:pathLst>
              <a:path w="456831" h="294864">
                <a:moveTo>
                  <a:pt x="0" y="0"/>
                </a:moveTo>
                <a:lnTo>
                  <a:pt x="456831" y="0"/>
                </a:lnTo>
                <a:lnTo>
                  <a:pt x="456831" y="294863"/>
                </a:lnTo>
                <a:lnTo>
                  <a:pt x="0" y="294863"/>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41687" y="1885633"/>
            <a:ext cx="14346313" cy="8571922"/>
          </a:xfrm>
          <a:custGeom>
            <a:avLst/>
            <a:gdLst/>
            <a:ahLst/>
            <a:cxnLst/>
            <a:rect l="l" t="t" r="r" b="b"/>
            <a:pathLst>
              <a:path w="14346313" h="8571922">
                <a:moveTo>
                  <a:pt x="0" y="0"/>
                </a:moveTo>
                <a:lnTo>
                  <a:pt x="14346313" y="0"/>
                </a:lnTo>
                <a:lnTo>
                  <a:pt x="14346313" y="8571922"/>
                </a:lnTo>
                <a:lnTo>
                  <a:pt x="0" y="8571922"/>
                </a:lnTo>
                <a:lnTo>
                  <a:pt x="0" y="0"/>
                </a:lnTo>
                <a:close/>
              </a:path>
            </a:pathLst>
          </a:custGeom>
          <a:blipFill>
            <a:blip r:embed="rId2"/>
            <a:stretch>
              <a:fillRect/>
            </a:stretch>
          </a:blipFill>
        </p:spPr>
      </p:sp>
      <p:sp>
        <p:nvSpPr>
          <p:cNvPr id="3" name="Freeform 3"/>
          <p:cNvSpPr/>
          <p:nvPr/>
        </p:nvSpPr>
        <p:spPr>
          <a:xfrm>
            <a:off x="16110161" y="1028700"/>
            <a:ext cx="1149139" cy="3257867"/>
          </a:xfrm>
          <a:custGeom>
            <a:avLst/>
            <a:gdLst/>
            <a:ahLst/>
            <a:cxnLst/>
            <a:rect l="l" t="t" r="r" b="b"/>
            <a:pathLst>
              <a:path w="1149139" h="3257867">
                <a:moveTo>
                  <a:pt x="0" y="0"/>
                </a:moveTo>
                <a:lnTo>
                  <a:pt x="1149139" y="0"/>
                </a:lnTo>
                <a:lnTo>
                  <a:pt x="1149139" y="3257867"/>
                </a:lnTo>
                <a:lnTo>
                  <a:pt x="0" y="325786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210972" y="3427401"/>
            <a:ext cx="14025331" cy="4387826"/>
          </a:xfrm>
          <a:prstGeom prst="rect">
            <a:avLst/>
          </a:prstGeom>
        </p:spPr>
        <p:txBody>
          <a:bodyPr lIns="0" tIns="0" rIns="0" bIns="0" rtlCol="0" anchor="t">
            <a:spAutoFit/>
          </a:bodyPr>
          <a:lstStyle/>
          <a:p>
            <a:pPr marL="593926" lvl="1" indent="-296963" algn="l">
              <a:lnSpc>
                <a:spcPts val="3851"/>
              </a:lnSpc>
              <a:buFont typeface="Arial"/>
              <a:buChar char="•"/>
            </a:pPr>
            <a:r>
              <a:rPr lang="en-US" sz="2750" dirty="0">
                <a:solidFill>
                  <a:srgbClr val="273DAC"/>
                </a:solidFill>
                <a:latin typeface="Poppins"/>
                <a:ea typeface="Poppins"/>
                <a:cs typeface="Poppins"/>
                <a:sym typeface="Poppins"/>
              </a:rPr>
              <a:t>The data is first prepared using column standardization, so that all fields are consistent and properly organized.</a:t>
            </a:r>
          </a:p>
          <a:p>
            <a:pPr marL="593926" lvl="1" indent="-296963" algn="l">
              <a:lnSpc>
                <a:spcPts val="3851"/>
              </a:lnSpc>
              <a:buFont typeface="Arial"/>
              <a:buChar char="•"/>
            </a:pPr>
            <a:r>
              <a:rPr lang="en-US" sz="2750" dirty="0">
                <a:solidFill>
                  <a:srgbClr val="273DAC"/>
                </a:solidFill>
                <a:latin typeface="Poppins"/>
                <a:ea typeface="Poppins"/>
                <a:cs typeface="Poppins"/>
                <a:sym typeface="Poppins"/>
              </a:rPr>
              <a:t> Then, we perform CRM notes generation, where structured data is converted into meaningful text.</a:t>
            </a:r>
          </a:p>
          <a:p>
            <a:pPr marL="593926" lvl="1" indent="-296963" algn="l">
              <a:lnSpc>
                <a:spcPts val="3851"/>
              </a:lnSpc>
              <a:buFont typeface="Arial"/>
              <a:buChar char="•"/>
            </a:pPr>
            <a:r>
              <a:rPr lang="en-US" sz="2750" dirty="0">
                <a:solidFill>
                  <a:srgbClr val="273DAC"/>
                </a:solidFill>
                <a:latin typeface="Poppins"/>
                <a:ea typeface="Poppins"/>
                <a:cs typeface="Poppins"/>
                <a:sym typeface="Poppins"/>
              </a:rPr>
              <a:t>Next, text cleaning is applied to remove noise, unwanted symbols, and inconsistencies in the data.</a:t>
            </a:r>
          </a:p>
          <a:p>
            <a:pPr marL="593926" lvl="1" indent="-296963" algn="l">
              <a:lnSpc>
                <a:spcPts val="3851"/>
              </a:lnSpc>
              <a:buFont typeface="Arial"/>
              <a:buChar char="•"/>
            </a:pPr>
            <a:r>
              <a:rPr lang="en-US" sz="2750" dirty="0">
                <a:solidFill>
                  <a:srgbClr val="273DAC"/>
                </a:solidFill>
                <a:latin typeface="Poppins"/>
                <a:ea typeface="Poppins"/>
                <a:cs typeface="Poppins"/>
                <a:sym typeface="Poppins"/>
              </a:rPr>
              <a:t> Finally, the dataset is divided into training, validation, and test sets to ensure proper model learning and evaluation.</a:t>
            </a:r>
          </a:p>
          <a:p>
            <a:pPr algn="l">
              <a:lnSpc>
                <a:spcPts val="3851"/>
              </a:lnSpc>
            </a:pPr>
            <a:endParaRPr lang="en-US" sz="2750" dirty="0">
              <a:solidFill>
                <a:srgbClr val="273DAC"/>
              </a:solidFill>
              <a:latin typeface="Poppins"/>
              <a:ea typeface="Poppins"/>
              <a:cs typeface="Poppins"/>
              <a:sym typeface="Poppins"/>
            </a:endParaRPr>
          </a:p>
        </p:txBody>
      </p:sp>
      <p:sp>
        <p:nvSpPr>
          <p:cNvPr id="5" name="Freeform 5"/>
          <p:cNvSpPr/>
          <p:nvPr/>
        </p:nvSpPr>
        <p:spPr>
          <a:xfrm>
            <a:off x="1028700" y="8477264"/>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806938" y="752475"/>
            <a:ext cx="12909061" cy="2291397"/>
          </a:xfrm>
          <a:prstGeom prst="rect">
            <a:avLst/>
          </a:prstGeom>
        </p:spPr>
        <p:txBody>
          <a:bodyPr wrap="square" lIns="0" tIns="0" rIns="0" bIns="0" rtlCol="0" anchor="t">
            <a:spAutoFit/>
          </a:bodyPr>
          <a:lstStyle/>
          <a:p>
            <a:pPr algn="ctr">
              <a:lnSpc>
                <a:spcPts val="19822"/>
              </a:lnSpc>
            </a:pPr>
            <a:r>
              <a:rPr lang="en-US" sz="14158" dirty="0">
                <a:solidFill>
                  <a:srgbClr val="273DAC"/>
                </a:solidFill>
                <a:latin typeface="Bebas Neue Cyrillic"/>
                <a:ea typeface="Bebas Neue Cyrillic"/>
                <a:cs typeface="Bebas Neue Cyrillic"/>
                <a:sym typeface="Bebas Neue Cyrillic"/>
              </a:rPr>
              <a:t>DATA </a:t>
            </a:r>
            <a:r>
              <a:rPr lang="en-US" sz="14158" dirty="0" err="1">
                <a:solidFill>
                  <a:srgbClr val="273DAC"/>
                </a:solidFill>
                <a:latin typeface="Bebas Neue Cyrillic"/>
                <a:ea typeface="Bebas Neue Cyrillic"/>
                <a:cs typeface="Bebas Neue Cyrillic"/>
                <a:sym typeface="Bebas Neue Cyrillic"/>
              </a:rPr>
              <a:t>PROCESSINg</a:t>
            </a:r>
            <a:endParaRPr lang="en-US" sz="14158" dirty="0">
              <a:solidFill>
                <a:srgbClr val="273DAC"/>
              </a:solidFill>
              <a:latin typeface="Bebas Neue Cyrillic"/>
              <a:ea typeface="Bebas Neue Cyrillic"/>
              <a:cs typeface="Bebas Neue Cyrillic"/>
              <a:sym typeface="Bebas Neue Cyrillic"/>
            </a:endParaRPr>
          </a:p>
        </p:txBody>
      </p:sp>
      <p:sp>
        <p:nvSpPr>
          <p:cNvPr id="7" name="Freeform 7"/>
          <p:cNvSpPr/>
          <p:nvPr/>
        </p:nvSpPr>
        <p:spPr>
          <a:xfrm flipH="1">
            <a:off x="0" y="0"/>
            <a:ext cx="13798329" cy="2848790"/>
          </a:xfrm>
          <a:custGeom>
            <a:avLst/>
            <a:gdLst/>
            <a:ahLst/>
            <a:cxnLst/>
            <a:rect l="l" t="t" r="r" b="b"/>
            <a:pathLst>
              <a:path w="13798329" h="2848790">
                <a:moveTo>
                  <a:pt x="13798329" y="0"/>
                </a:moveTo>
                <a:lnTo>
                  <a:pt x="0" y="0"/>
                </a:lnTo>
                <a:lnTo>
                  <a:pt x="0" y="2848790"/>
                </a:lnTo>
                <a:lnTo>
                  <a:pt x="13798329" y="2848790"/>
                </a:lnTo>
                <a:lnTo>
                  <a:pt x="13798329" y="0"/>
                </a:lnTo>
                <a:close/>
              </a:path>
            </a:pathLst>
          </a:custGeom>
          <a:blipFill>
            <a:blip>
              <a:alphaModFix amt="12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65133" y="3849295"/>
            <a:ext cx="16294167" cy="4653860"/>
          </a:xfrm>
          <a:prstGeom prst="rect">
            <a:avLst/>
          </a:prstGeom>
        </p:spPr>
        <p:txBody>
          <a:bodyPr lIns="0" tIns="0" rIns="0" bIns="0" rtlCol="0" anchor="t">
            <a:spAutoFit/>
          </a:bodyPr>
          <a:lstStyle/>
          <a:p>
            <a:pPr marL="634278" lvl="1" indent="-317139" algn="l">
              <a:lnSpc>
                <a:spcPts val="4112"/>
              </a:lnSpc>
              <a:buFont typeface="Arial"/>
              <a:buChar char="•"/>
            </a:pPr>
            <a:r>
              <a:rPr lang="en-US" sz="2937">
                <a:solidFill>
                  <a:srgbClr val="273DAC"/>
                </a:solidFill>
                <a:latin typeface="Poppins"/>
                <a:ea typeface="Poppins"/>
                <a:cs typeface="Poppins"/>
                <a:sym typeface="Poppins"/>
              </a:rPr>
              <a:t>We use the DistilBERT tokenizer to convert CRM notes from text into a numerical format that the model can understand.</a:t>
            </a:r>
          </a:p>
          <a:p>
            <a:pPr algn="l">
              <a:lnSpc>
                <a:spcPts val="4112"/>
              </a:lnSpc>
            </a:pPr>
            <a:endParaRPr lang="en-US" sz="2937">
              <a:solidFill>
                <a:srgbClr val="273DAC"/>
              </a:solidFill>
              <a:latin typeface="Poppins"/>
              <a:ea typeface="Poppins"/>
              <a:cs typeface="Poppins"/>
              <a:sym typeface="Poppins"/>
            </a:endParaRPr>
          </a:p>
          <a:p>
            <a:pPr marL="634278" lvl="1" indent="-317139" algn="l">
              <a:lnSpc>
                <a:spcPts val="4112"/>
              </a:lnSpc>
              <a:buFont typeface="Arial"/>
              <a:buChar char="•"/>
            </a:pPr>
            <a:r>
              <a:rPr lang="en-US" sz="2937">
                <a:solidFill>
                  <a:srgbClr val="273DAC"/>
                </a:solidFill>
                <a:latin typeface="Poppins"/>
                <a:ea typeface="Poppins"/>
                <a:cs typeface="Poppins"/>
                <a:sym typeface="Poppins"/>
              </a:rPr>
              <a:t>It generates input_ids, which represent the encoded words, and attention_mask, which tells the model which parts of the text are important.</a:t>
            </a:r>
          </a:p>
          <a:p>
            <a:pPr algn="l">
              <a:lnSpc>
                <a:spcPts val="4112"/>
              </a:lnSpc>
            </a:pPr>
            <a:endParaRPr lang="en-US" sz="2937">
              <a:solidFill>
                <a:srgbClr val="273DAC"/>
              </a:solidFill>
              <a:latin typeface="Poppins"/>
              <a:ea typeface="Poppins"/>
              <a:cs typeface="Poppins"/>
              <a:sym typeface="Poppins"/>
            </a:endParaRPr>
          </a:p>
          <a:p>
            <a:pPr marL="634278" lvl="1" indent="-317139" algn="l">
              <a:lnSpc>
                <a:spcPts val="4112"/>
              </a:lnSpc>
              <a:buFont typeface="Arial"/>
              <a:buChar char="•"/>
            </a:pPr>
            <a:r>
              <a:rPr lang="en-US" sz="2937">
                <a:solidFill>
                  <a:srgbClr val="273DAC"/>
                </a:solidFill>
                <a:latin typeface="Poppins"/>
                <a:ea typeface="Poppins"/>
                <a:cs typeface="Poppins"/>
                <a:sym typeface="Poppins"/>
              </a:rPr>
              <a:t>This step helps the model process language effectively and improves prediction accuracy.</a:t>
            </a:r>
          </a:p>
          <a:p>
            <a:pPr algn="l">
              <a:lnSpc>
                <a:spcPts val="4112"/>
              </a:lnSpc>
            </a:pPr>
            <a:endParaRPr lang="en-US" sz="2937">
              <a:solidFill>
                <a:srgbClr val="273DAC"/>
              </a:solidFill>
              <a:latin typeface="Poppins"/>
              <a:ea typeface="Poppins"/>
              <a:cs typeface="Poppins"/>
              <a:sym typeface="Poppins"/>
            </a:endParaRPr>
          </a:p>
        </p:txBody>
      </p:sp>
      <p:sp>
        <p:nvSpPr>
          <p:cNvPr id="3" name="Freeform 3"/>
          <p:cNvSpPr/>
          <p:nvPr/>
        </p:nvSpPr>
        <p:spPr>
          <a:xfrm flipH="1">
            <a:off x="-210152" y="8082195"/>
            <a:ext cx="9354152" cy="1931249"/>
          </a:xfrm>
          <a:custGeom>
            <a:avLst/>
            <a:gdLst/>
            <a:ahLst/>
            <a:cxnLst/>
            <a:rect l="l" t="t" r="r" b="b"/>
            <a:pathLst>
              <a:path w="9354152" h="1931249">
                <a:moveTo>
                  <a:pt x="9354152" y="0"/>
                </a:moveTo>
                <a:lnTo>
                  <a:pt x="0" y="0"/>
                </a:lnTo>
                <a:lnTo>
                  <a:pt x="0" y="1931250"/>
                </a:lnTo>
                <a:lnTo>
                  <a:pt x="9354152" y="1931250"/>
                </a:lnTo>
                <a:lnTo>
                  <a:pt x="9354152" y="0"/>
                </a:lnTo>
                <a:close/>
              </a:path>
            </a:pathLst>
          </a:custGeom>
          <a:blipFill>
            <a:blip>
              <a:alphaModFix amt="21999"/>
              <a:extLst>
                <a:ext uri="{96DAC541-7B7A-43D3-8B79-37D633B846F1}">
                  <asvg:svgBlip xmlns:asvg="http://schemas.microsoft.com/office/drawing/2016/SVG/main" r:embed="rId2"/>
                </a:ext>
              </a:extLst>
            </a:blip>
            <a:stretch>
              <a:fillRect/>
            </a:stretch>
          </a:blipFill>
        </p:spPr>
      </p:sp>
      <p:sp>
        <p:nvSpPr>
          <p:cNvPr id="4" name="Freeform 4"/>
          <p:cNvSpPr/>
          <p:nvPr/>
        </p:nvSpPr>
        <p:spPr>
          <a:xfrm>
            <a:off x="15281085" y="1028700"/>
            <a:ext cx="1978215" cy="773302"/>
          </a:xfrm>
          <a:custGeom>
            <a:avLst/>
            <a:gdLst/>
            <a:ahLst/>
            <a:cxnLst/>
            <a:rect l="l" t="t" r="r" b="b"/>
            <a:pathLst>
              <a:path w="1978215" h="773302">
                <a:moveTo>
                  <a:pt x="0" y="0"/>
                </a:moveTo>
                <a:lnTo>
                  <a:pt x="1978215" y="0"/>
                </a:lnTo>
                <a:lnTo>
                  <a:pt x="1978215" y="773302"/>
                </a:lnTo>
                <a:lnTo>
                  <a:pt x="0" y="77330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45461" y="1634527"/>
            <a:ext cx="13209457" cy="1848016"/>
          </a:xfrm>
          <a:prstGeom prst="rect">
            <a:avLst/>
          </a:prstGeom>
        </p:spPr>
        <p:txBody>
          <a:bodyPr lIns="0" tIns="0" rIns="0" bIns="0" rtlCol="0" anchor="t">
            <a:spAutoFit/>
          </a:bodyPr>
          <a:lstStyle/>
          <a:p>
            <a:pPr algn="ctr">
              <a:lnSpc>
                <a:spcPts val="15038"/>
              </a:lnSpc>
            </a:pPr>
            <a:r>
              <a:rPr lang="en-US" sz="10742">
                <a:solidFill>
                  <a:srgbClr val="273DAC"/>
                </a:solidFill>
                <a:latin typeface="Bebas Neue Cyrillic"/>
                <a:ea typeface="Bebas Neue Cyrillic"/>
                <a:cs typeface="Bebas Neue Cyrillic"/>
                <a:sym typeface="Bebas Neue Cyrillic"/>
              </a:rPr>
              <a:t>FEATURE ENGINEERING (BERT)</a:t>
            </a:r>
          </a:p>
        </p:txBody>
      </p:sp>
      <p:sp>
        <p:nvSpPr>
          <p:cNvPr id="6" name="Freeform 6"/>
          <p:cNvSpPr/>
          <p:nvPr/>
        </p:nvSpPr>
        <p:spPr>
          <a:xfrm>
            <a:off x="6185544" y="-368314"/>
            <a:ext cx="12135296" cy="2505442"/>
          </a:xfrm>
          <a:custGeom>
            <a:avLst/>
            <a:gdLst/>
            <a:ahLst/>
            <a:cxnLst/>
            <a:rect l="l" t="t" r="r" b="b"/>
            <a:pathLst>
              <a:path w="12135296" h="2505442">
                <a:moveTo>
                  <a:pt x="0" y="0"/>
                </a:moveTo>
                <a:lnTo>
                  <a:pt x="12135297" y="0"/>
                </a:lnTo>
                <a:lnTo>
                  <a:pt x="12135297" y="2505441"/>
                </a:lnTo>
                <a:lnTo>
                  <a:pt x="0" y="2505441"/>
                </a:lnTo>
                <a:lnTo>
                  <a:pt x="0" y="0"/>
                </a:lnTo>
                <a:close/>
              </a:path>
            </a:pathLst>
          </a:custGeom>
          <a:blipFill>
            <a:blip>
              <a:alphaModFix amt="12000"/>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297403"/>
            <a:ext cx="12642890" cy="4989597"/>
          </a:xfrm>
          <a:custGeom>
            <a:avLst/>
            <a:gdLst/>
            <a:ahLst/>
            <a:cxnLst/>
            <a:rect l="l" t="t" r="r" b="b"/>
            <a:pathLst>
              <a:path w="12642890" h="4989597">
                <a:moveTo>
                  <a:pt x="0" y="0"/>
                </a:moveTo>
                <a:lnTo>
                  <a:pt x="12642890" y="0"/>
                </a:lnTo>
                <a:lnTo>
                  <a:pt x="12642890" y="4989597"/>
                </a:lnTo>
                <a:lnTo>
                  <a:pt x="0" y="4989597"/>
                </a:lnTo>
                <a:lnTo>
                  <a:pt x="0" y="0"/>
                </a:lnTo>
                <a:close/>
              </a:path>
            </a:pathLst>
          </a:custGeom>
          <a:blipFill>
            <a:blip>
              <a:extLst>
                <a:ext uri="{96DAC541-7B7A-43D3-8B79-37D633B846F1}">
                  <asvg:svgBlip xmlns:asvg="http://schemas.microsoft.com/office/drawing/2016/SVG/main" r:embed="rId2"/>
                </a:ext>
              </a:extLst>
            </a:blip>
            <a:stretch>
              <a:fillRect r="-138626" b="-50757"/>
            </a:stretch>
          </a:blipFill>
        </p:spPr>
      </p:sp>
      <p:sp>
        <p:nvSpPr>
          <p:cNvPr id="3" name="Freeform 3"/>
          <p:cNvSpPr/>
          <p:nvPr/>
        </p:nvSpPr>
        <p:spPr>
          <a:xfrm rot="-10800000">
            <a:off x="16059384" y="736205"/>
            <a:ext cx="1710165" cy="1710165"/>
          </a:xfrm>
          <a:custGeom>
            <a:avLst/>
            <a:gdLst/>
            <a:ahLst/>
            <a:cxnLst/>
            <a:rect l="l" t="t" r="r" b="b"/>
            <a:pathLst>
              <a:path w="1710165" h="1710165">
                <a:moveTo>
                  <a:pt x="0" y="0"/>
                </a:moveTo>
                <a:lnTo>
                  <a:pt x="1710165" y="0"/>
                </a:lnTo>
                <a:lnTo>
                  <a:pt x="1710165" y="1710165"/>
                </a:lnTo>
                <a:lnTo>
                  <a:pt x="0" y="17101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519878" y="1028700"/>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859468" y="8256037"/>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175870" y="1619236"/>
            <a:ext cx="12323405" cy="1628516"/>
          </a:xfrm>
          <a:prstGeom prst="rect">
            <a:avLst/>
          </a:prstGeom>
        </p:spPr>
        <p:txBody>
          <a:bodyPr lIns="0" tIns="0" rIns="0" bIns="0" rtlCol="0" anchor="t">
            <a:spAutoFit/>
          </a:bodyPr>
          <a:lstStyle/>
          <a:p>
            <a:pPr algn="ctr">
              <a:lnSpc>
                <a:spcPts val="13276"/>
              </a:lnSpc>
            </a:pPr>
            <a:r>
              <a:rPr lang="en-US" sz="9483">
                <a:solidFill>
                  <a:srgbClr val="273DAC"/>
                </a:solidFill>
                <a:latin typeface="Bebas Neue Cyrillic"/>
                <a:ea typeface="Bebas Neue Cyrillic"/>
                <a:cs typeface="Bebas Neue Cyrillic"/>
                <a:sym typeface="Bebas Neue Cyrillic"/>
              </a:rPr>
              <a:t>MODEL (DISTILBERT CLASSIFIER)</a:t>
            </a:r>
          </a:p>
        </p:txBody>
      </p:sp>
      <p:sp>
        <p:nvSpPr>
          <p:cNvPr id="7" name="TextBox 7"/>
          <p:cNvSpPr txBox="1"/>
          <p:nvPr/>
        </p:nvSpPr>
        <p:spPr>
          <a:xfrm>
            <a:off x="3433017" y="3934064"/>
            <a:ext cx="12219553" cy="3725963"/>
          </a:xfrm>
          <a:prstGeom prst="rect">
            <a:avLst/>
          </a:prstGeom>
        </p:spPr>
        <p:txBody>
          <a:bodyPr lIns="0" tIns="0" rIns="0" bIns="0" rtlCol="0" anchor="t">
            <a:spAutoFit/>
          </a:bodyPr>
          <a:lstStyle/>
          <a:p>
            <a:pPr marL="756431" lvl="1" indent="-378216" algn="l">
              <a:lnSpc>
                <a:spcPts val="4905"/>
              </a:lnSpc>
              <a:buFont typeface="Arial"/>
              <a:buChar char="•"/>
            </a:pPr>
            <a:r>
              <a:rPr lang="en-US" sz="3503">
                <a:solidFill>
                  <a:srgbClr val="273DAC"/>
                </a:solidFill>
                <a:latin typeface="Poppins"/>
                <a:ea typeface="Poppins"/>
                <a:cs typeface="Poppins"/>
                <a:sym typeface="Poppins"/>
              </a:rPr>
              <a:t>Pretrained DistilBERT model</a:t>
            </a:r>
          </a:p>
          <a:p>
            <a:pPr marL="756431" lvl="1" indent="-378216" algn="l">
              <a:lnSpc>
                <a:spcPts val="4905"/>
              </a:lnSpc>
              <a:buFont typeface="Arial"/>
              <a:buChar char="•"/>
            </a:pPr>
            <a:r>
              <a:rPr lang="en-US" sz="3503">
                <a:solidFill>
                  <a:srgbClr val="273DAC"/>
                </a:solidFill>
                <a:latin typeface="Poppins"/>
                <a:ea typeface="Poppins"/>
                <a:cs typeface="Poppins"/>
                <a:sym typeface="Poppins"/>
              </a:rPr>
              <a:t>Understands language context and patterns</a:t>
            </a:r>
          </a:p>
          <a:p>
            <a:pPr marL="756431" lvl="1" indent="-378216" algn="l">
              <a:lnSpc>
                <a:spcPts val="4905"/>
              </a:lnSpc>
              <a:buFont typeface="Arial"/>
              <a:buChar char="•"/>
            </a:pPr>
            <a:r>
              <a:rPr lang="en-US" sz="3503">
                <a:solidFill>
                  <a:srgbClr val="273DAC"/>
                </a:solidFill>
                <a:latin typeface="Poppins"/>
                <a:ea typeface="Poppins"/>
                <a:cs typeface="Poppins"/>
                <a:sym typeface="Poppins"/>
              </a:rPr>
              <a:t>Added fully connected (dense) layers</a:t>
            </a:r>
          </a:p>
          <a:p>
            <a:pPr marL="756431" lvl="1" indent="-378216" algn="l">
              <a:lnSpc>
                <a:spcPts val="4905"/>
              </a:lnSpc>
              <a:buFont typeface="Arial"/>
              <a:buChar char="•"/>
            </a:pPr>
            <a:r>
              <a:rPr lang="en-US" sz="3503">
                <a:solidFill>
                  <a:srgbClr val="273DAC"/>
                </a:solidFill>
                <a:latin typeface="Poppins"/>
                <a:ea typeface="Poppins"/>
                <a:cs typeface="Poppins"/>
                <a:sym typeface="Poppins"/>
              </a:rPr>
              <a:t>Performs classification task</a:t>
            </a:r>
          </a:p>
          <a:p>
            <a:pPr marL="756431" lvl="1" indent="-378216" algn="l">
              <a:lnSpc>
                <a:spcPts val="4905"/>
              </a:lnSpc>
              <a:buFont typeface="Arial"/>
              <a:buChar char="•"/>
            </a:pPr>
            <a:r>
              <a:rPr lang="en-US" sz="3503">
                <a:solidFill>
                  <a:srgbClr val="273DAC"/>
                </a:solidFill>
                <a:latin typeface="Poppins"/>
                <a:ea typeface="Poppins"/>
                <a:cs typeface="Poppins"/>
                <a:sym typeface="Poppins"/>
              </a:rPr>
              <a:t>Outputs predicted deal stage</a:t>
            </a:r>
          </a:p>
          <a:p>
            <a:pPr algn="l">
              <a:lnSpc>
                <a:spcPts val="4905"/>
              </a:lnSpc>
            </a:pPr>
            <a:endParaRPr lang="en-US" sz="3503">
              <a:solidFill>
                <a:srgbClr val="273DAC"/>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266961"/>
            <a:ext cx="17259300" cy="3563339"/>
          </a:xfrm>
          <a:custGeom>
            <a:avLst/>
            <a:gdLst/>
            <a:ahLst/>
            <a:cxnLst/>
            <a:rect l="l" t="t" r="r" b="b"/>
            <a:pathLst>
              <a:path w="17259300" h="3563339">
                <a:moveTo>
                  <a:pt x="0" y="0"/>
                </a:moveTo>
                <a:lnTo>
                  <a:pt x="17259300" y="0"/>
                </a:lnTo>
                <a:lnTo>
                  <a:pt x="17259300" y="3563339"/>
                </a:lnTo>
                <a:lnTo>
                  <a:pt x="0" y="3563339"/>
                </a:lnTo>
                <a:lnTo>
                  <a:pt x="0" y="0"/>
                </a:lnTo>
                <a:close/>
              </a:path>
            </a:pathLst>
          </a:custGeom>
          <a:blipFill>
            <a:blip>
              <a:alphaModFix amt="12000"/>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804259" y="2988975"/>
            <a:ext cx="14679482" cy="5383547"/>
          </a:xfrm>
          <a:prstGeom prst="rect">
            <a:avLst/>
          </a:prstGeom>
        </p:spPr>
        <p:txBody>
          <a:bodyPr lIns="0" tIns="0" rIns="0" bIns="0" rtlCol="0" anchor="t">
            <a:spAutoFit/>
          </a:bodyPr>
          <a:lstStyle/>
          <a:p>
            <a:pPr algn="l">
              <a:lnSpc>
                <a:spcPts val="3844"/>
              </a:lnSpc>
            </a:pPr>
            <a:r>
              <a:rPr lang="en-US" sz="2745">
                <a:solidFill>
                  <a:srgbClr val="273DAC"/>
                </a:solidFill>
                <a:latin typeface="Poppins"/>
                <a:ea typeface="Poppins"/>
                <a:cs typeface="Poppins"/>
                <a:sym typeface="Poppins"/>
              </a:rPr>
              <a:t>The model is trained using the AdamW optimizer, which helps in efficient weight updates during training.</a:t>
            </a:r>
          </a:p>
          <a:p>
            <a:pPr algn="l">
              <a:lnSpc>
                <a:spcPts val="3844"/>
              </a:lnSpc>
            </a:pPr>
            <a:r>
              <a:rPr lang="en-US" sz="2745">
                <a:solidFill>
                  <a:srgbClr val="273DAC"/>
                </a:solidFill>
                <a:latin typeface="Poppins"/>
                <a:ea typeface="Poppins"/>
                <a:cs typeface="Poppins"/>
                <a:sym typeface="Poppins"/>
              </a:rPr>
              <a:t> We use CrossEntropy Loss as the loss function to measure how well the model predicts the correct deal stage.</a:t>
            </a:r>
          </a:p>
          <a:p>
            <a:pPr algn="l">
              <a:lnSpc>
                <a:spcPts val="3844"/>
              </a:lnSpc>
            </a:pPr>
            <a:endParaRPr lang="en-US" sz="2745">
              <a:solidFill>
                <a:srgbClr val="273DAC"/>
              </a:solidFill>
              <a:latin typeface="Poppins"/>
              <a:ea typeface="Poppins"/>
              <a:cs typeface="Poppins"/>
              <a:sym typeface="Poppins"/>
            </a:endParaRPr>
          </a:p>
          <a:p>
            <a:pPr algn="l">
              <a:lnSpc>
                <a:spcPts val="3844"/>
              </a:lnSpc>
            </a:pPr>
            <a:r>
              <a:rPr lang="en-US" sz="2745" b="1">
                <a:solidFill>
                  <a:srgbClr val="273DAC"/>
                </a:solidFill>
                <a:latin typeface="Poppins Bold"/>
                <a:ea typeface="Poppins Bold"/>
                <a:cs typeface="Poppins Bold"/>
                <a:sym typeface="Poppins Bold"/>
              </a:rPr>
              <a:t>Metrics Used:</a:t>
            </a:r>
          </a:p>
          <a:p>
            <a:pPr marL="592833" lvl="1" indent="-296416" algn="l">
              <a:lnSpc>
                <a:spcPts val="3844"/>
              </a:lnSpc>
              <a:buFont typeface="Arial"/>
              <a:buChar char="•"/>
            </a:pPr>
            <a:r>
              <a:rPr lang="en-US" sz="2745">
                <a:solidFill>
                  <a:srgbClr val="273DAC"/>
                </a:solidFill>
                <a:latin typeface="Poppins"/>
                <a:ea typeface="Poppins"/>
                <a:cs typeface="Poppins"/>
                <a:sym typeface="Poppins"/>
              </a:rPr>
              <a:t>Accuracy</a:t>
            </a:r>
          </a:p>
          <a:p>
            <a:pPr marL="592833" lvl="1" indent="-296416" algn="l">
              <a:lnSpc>
                <a:spcPts val="3844"/>
              </a:lnSpc>
              <a:buFont typeface="Arial"/>
              <a:buChar char="•"/>
            </a:pPr>
            <a:r>
              <a:rPr lang="en-US" sz="2745">
                <a:solidFill>
                  <a:srgbClr val="273DAC"/>
                </a:solidFill>
                <a:latin typeface="Poppins"/>
                <a:ea typeface="Poppins"/>
                <a:cs typeface="Poppins"/>
                <a:sym typeface="Poppins"/>
              </a:rPr>
              <a:t>F1 Score</a:t>
            </a:r>
          </a:p>
          <a:p>
            <a:pPr algn="l">
              <a:lnSpc>
                <a:spcPts val="3844"/>
              </a:lnSpc>
            </a:pPr>
            <a:r>
              <a:rPr lang="en-US" sz="2745">
                <a:solidFill>
                  <a:srgbClr val="273DAC"/>
                </a:solidFill>
                <a:latin typeface="Poppins"/>
                <a:ea typeface="Poppins"/>
                <a:cs typeface="Poppins"/>
                <a:sym typeface="Poppins"/>
              </a:rPr>
              <a:t>These metrics help evaluate the model’s overall performance and prediction quality.</a:t>
            </a:r>
          </a:p>
          <a:p>
            <a:pPr algn="l">
              <a:lnSpc>
                <a:spcPts val="3844"/>
              </a:lnSpc>
            </a:pPr>
            <a:endParaRPr lang="en-US" sz="2745">
              <a:solidFill>
                <a:srgbClr val="273DAC"/>
              </a:solidFill>
              <a:latin typeface="Poppins"/>
              <a:ea typeface="Poppins"/>
              <a:cs typeface="Poppins"/>
              <a:sym typeface="Poppins"/>
            </a:endParaRPr>
          </a:p>
        </p:txBody>
      </p:sp>
      <p:sp>
        <p:nvSpPr>
          <p:cNvPr id="4" name="Freeform 4"/>
          <p:cNvSpPr/>
          <p:nvPr/>
        </p:nvSpPr>
        <p:spPr>
          <a:xfrm>
            <a:off x="420818" y="394832"/>
            <a:ext cx="2399832" cy="781036"/>
          </a:xfrm>
          <a:custGeom>
            <a:avLst/>
            <a:gdLst/>
            <a:ahLst/>
            <a:cxnLst/>
            <a:rect l="l" t="t" r="r" b="b"/>
            <a:pathLst>
              <a:path w="2399832" h="781036">
                <a:moveTo>
                  <a:pt x="0" y="0"/>
                </a:moveTo>
                <a:lnTo>
                  <a:pt x="2399832" y="0"/>
                </a:lnTo>
                <a:lnTo>
                  <a:pt x="2399832" y="781037"/>
                </a:lnTo>
                <a:lnTo>
                  <a:pt x="0" y="78103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966888" y="8661979"/>
            <a:ext cx="1978215" cy="773302"/>
          </a:xfrm>
          <a:custGeom>
            <a:avLst/>
            <a:gdLst/>
            <a:ahLst/>
            <a:cxnLst/>
            <a:rect l="l" t="t" r="r" b="b"/>
            <a:pathLst>
              <a:path w="1978215" h="773302">
                <a:moveTo>
                  <a:pt x="0" y="0"/>
                </a:moveTo>
                <a:lnTo>
                  <a:pt x="1978215" y="0"/>
                </a:lnTo>
                <a:lnTo>
                  <a:pt x="1978215" y="773303"/>
                </a:lnTo>
                <a:lnTo>
                  <a:pt x="0" y="77330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076879" y="365663"/>
            <a:ext cx="15182421"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TRAINING &amp; EVALUATION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910221" y="5451832"/>
            <a:ext cx="8377779" cy="5005723"/>
          </a:xfrm>
          <a:custGeom>
            <a:avLst/>
            <a:gdLst/>
            <a:ahLst/>
            <a:cxnLst/>
            <a:rect l="l" t="t" r="r" b="b"/>
            <a:pathLst>
              <a:path w="8377779" h="5005723">
                <a:moveTo>
                  <a:pt x="0" y="0"/>
                </a:moveTo>
                <a:lnTo>
                  <a:pt x="8377779" y="0"/>
                </a:lnTo>
                <a:lnTo>
                  <a:pt x="8377779" y="5005723"/>
                </a:lnTo>
                <a:lnTo>
                  <a:pt x="0" y="5005723"/>
                </a:lnTo>
                <a:lnTo>
                  <a:pt x="0" y="0"/>
                </a:lnTo>
                <a:close/>
              </a:path>
            </a:pathLst>
          </a:custGeom>
          <a:blipFill>
            <a:blip r:embed="rId2"/>
            <a:stretch>
              <a:fillRect/>
            </a:stretch>
          </a:blipFill>
        </p:spPr>
      </p:sp>
      <p:sp>
        <p:nvSpPr>
          <p:cNvPr id="3" name="Freeform 3"/>
          <p:cNvSpPr/>
          <p:nvPr/>
        </p:nvSpPr>
        <p:spPr>
          <a:xfrm>
            <a:off x="16995069" y="674737"/>
            <a:ext cx="1149139" cy="3257867"/>
          </a:xfrm>
          <a:custGeom>
            <a:avLst/>
            <a:gdLst/>
            <a:ahLst/>
            <a:cxnLst/>
            <a:rect l="l" t="t" r="r" b="b"/>
            <a:pathLst>
              <a:path w="1149139" h="3257867">
                <a:moveTo>
                  <a:pt x="0" y="0"/>
                </a:moveTo>
                <a:lnTo>
                  <a:pt x="1149139" y="0"/>
                </a:lnTo>
                <a:lnTo>
                  <a:pt x="1149139" y="3257867"/>
                </a:lnTo>
                <a:lnTo>
                  <a:pt x="0" y="325786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98651" y="3080512"/>
            <a:ext cx="16960649" cy="5886286"/>
          </a:xfrm>
          <a:prstGeom prst="rect">
            <a:avLst/>
          </a:prstGeom>
        </p:spPr>
        <p:txBody>
          <a:bodyPr lIns="0" tIns="0" rIns="0" bIns="0" rtlCol="0" anchor="t">
            <a:spAutoFit/>
          </a:bodyPr>
          <a:lstStyle/>
          <a:p>
            <a:pPr marL="649091" lvl="1" indent="-324545" algn="l">
              <a:lnSpc>
                <a:spcPts val="4209"/>
              </a:lnSpc>
              <a:buFont typeface="Arial"/>
              <a:buChar char="•"/>
            </a:pPr>
            <a:r>
              <a:rPr lang="en-US" sz="3006">
                <a:solidFill>
                  <a:srgbClr val="273DAC"/>
                </a:solidFill>
                <a:latin typeface="Poppins"/>
                <a:ea typeface="Poppins"/>
                <a:cs typeface="Poppins"/>
                <a:sym typeface="Poppins"/>
              </a:rPr>
              <a:t>We use SHAP (SHapley Additive exPlanations) to understand how the model makes predictions instead of treating it like a black box.</a:t>
            </a:r>
          </a:p>
          <a:p>
            <a:pPr algn="l">
              <a:lnSpc>
                <a:spcPts val="4209"/>
              </a:lnSpc>
            </a:pPr>
            <a:endParaRPr lang="en-US" sz="3006">
              <a:solidFill>
                <a:srgbClr val="273DAC"/>
              </a:solidFill>
              <a:latin typeface="Poppins"/>
              <a:ea typeface="Poppins"/>
              <a:cs typeface="Poppins"/>
              <a:sym typeface="Poppins"/>
            </a:endParaRPr>
          </a:p>
          <a:p>
            <a:pPr marL="649091" lvl="1" indent="-324545" algn="l">
              <a:lnSpc>
                <a:spcPts val="4209"/>
              </a:lnSpc>
              <a:buFont typeface="Arial"/>
              <a:buChar char="•"/>
            </a:pPr>
            <a:r>
              <a:rPr lang="en-US" sz="3006">
                <a:solidFill>
                  <a:srgbClr val="273DAC"/>
                </a:solidFill>
                <a:latin typeface="Poppins"/>
                <a:ea typeface="Poppins"/>
                <a:cs typeface="Poppins"/>
                <a:sym typeface="Poppins"/>
              </a:rPr>
              <a:t>It analyzes the contribution of each word in the CRM notes and highlights which words have the most impact on the predicted deal stage.</a:t>
            </a:r>
          </a:p>
          <a:p>
            <a:pPr algn="l">
              <a:lnSpc>
                <a:spcPts val="4209"/>
              </a:lnSpc>
            </a:pPr>
            <a:endParaRPr lang="en-US" sz="3006">
              <a:solidFill>
                <a:srgbClr val="273DAC"/>
              </a:solidFill>
              <a:latin typeface="Poppins"/>
              <a:ea typeface="Poppins"/>
              <a:cs typeface="Poppins"/>
              <a:sym typeface="Poppins"/>
            </a:endParaRPr>
          </a:p>
          <a:p>
            <a:pPr marL="649091" lvl="1" indent="-324545" algn="l">
              <a:lnSpc>
                <a:spcPts val="4209"/>
              </a:lnSpc>
              <a:buFont typeface="Arial"/>
              <a:buChar char="•"/>
            </a:pPr>
            <a:r>
              <a:rPr lang="en-US" sz="3006">
                <a:solidFill>
                  <a:srgbClr val="273DAC"/>
                </a:solidFill>
                <a:latin typeface="Poppins"/>
                <a:ea typeface="Poppins"/>
                <a:cs typeface="Poppins"/>
                <a:sym typeface="Poppins"/>
              </a:rPr>
              <a:t> This helps in identifying positive and negative influences on the model’s decision.</a:t>
            </a:r>
          </a:p>
          <a:p>
            <a:pPr algn="l">
              <a:lnSpc>
                <a:spcPts val="4209"/>
              </a:lnSpc>
            </a:pPr>
            <a:endParaRPr lang="en-US" sz="3006">
              <a:solidFill>
                <a:srgbClr val="273DAC"/>
              </a:solidFill>
              <a:latin typeface="Poppins"/>
              <a:ea typeface="Poppins"/>
              <a:cs typeface="Poppins"/>
              <a:sym typeface="Poppins"/>
            </a:endParaRPr>
          </a:p>
          <a:p>
            <a:pPr marL="649091" lvl="1" indent="-324545" algn="l">
              <a:lnSpc>
                <a:spcPts val="4209"/>
              </a:lnSpc>
              <a:buFont typeface="Arial"/>
              <a:buChar char="•"/>
            </a:pPr>
            <a:r>
              <a:rPr lang="en-US" sz="3006">
                <a:solidFill>
                  <a:srgbClr val="273DAC"/>
                </a:solidFill>
                <a:latin typeface="Poppins"/>
                <a:ea typeface="Poppins"/>
                <a:cs typeface="Poppins"/>
                <a:sym typeface="Poppins"/>
              </a:rPr>
              <a:t>As a result, SHAP makes the system more transparent, interpretable, and trustworthy, which is important in real-world applications.</a:t>
            </a:r>
          </a:p>
          <a:p>
            <a:pPr algn="l">
              <a:lnSpc>
                <a:spcPts val="4209"/>
              </a:lnSpc>
            </a:pPr>
            <a:endParaRPr lang="en-US" sz="3006">
              <a:solidFill>
                <a:srgbClr val="273DAC"/>
              </a:solidFill>
              <a:latin typeface="Poppins"/>
              <a:ea typeface="Poppins"/>
              <a:cs typeface="Poppins"/>
              <a:sym typeface="Poppins"/>
            </a:endParaRPr>
          </a:p>
        </p:txBody>
      </p:sp>
      <p:sp>
        <p:nvSpPr>
          <p:cNvPr id="5" name="Freeform 5"/>
          <p:cNvSpPr/>
          <p:nvPr/>
        </p:nvSpPr>
        <p:spPr>
          <a:xfrm>
            <a:off x="829596" y="8966799"/>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183380" y="398512"/>
            <a:ext cx="11760180"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EXPLAINABILITY</a:t>
            </a:r>
          </a:p>
        </p:txBody>
      </p:sp>
      <p:sp>
        <p:nvSpPr>
          <p:cNvPr id="7" name="Freeform 7"/>
          <p:cNvSpPr/>
          <p:nvPr/>
        </p:nvSpPr>
        <p:spPr>
          <a:xfrm flipH="1">
            <a:off x="0" y="-353963"/>
            <a:ext cx="15382045" cy="3175762"/>
          </a:xfrm>
          <a:custGeom>
            <a:avLst/>
            <a:gdLst/>
            <a:ahLst/>
            <a:cxnLst/>
            <a:rect l="l" t="t" r="r" b="b"/>
            <a:pathLst>
              <a:path w="15382045" h="3175762">
                <a:moveTo>
                  <a:pt x="15382045" y="0"/>
                </a:moveTo>
                <a:lnTo>
                  <a:pt x="0" y="0"/>
                </a:lnTo>
                <a:lnTo>
                  <a:pt x="0" y="3175762"/>
                </a:lnTo>
                <a:lnTo>
                  <a:pt x="15382045" y="3175762"/>
                </a:lnTo>
                <a:lnTo>
                  <a:pt x="15382045" y="0"/>
                </a:lnTo>
                <a:close/>
              </a:path>
            </a:pathLst>
          </a:custGeom>
          <a:blipFill>
            <a:blip>
              <a:alphaModFix amt="12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654829"/>
            <a:ext cx="11737226" cy="4632171"/>
          </a:xfrm>
          <a:custGeom>
            <a:avLst/>
            <a:gdLst/>
            <a:ahLst/>
            <a:cxnLst/>
            <a:rect l="l" t="t" r="r" b="b"/>
            <a:pathLst>
              <a:path w="11737226" h="4632171">
                <a:moveTo>
                  <a:pt x="0" y="0"/>
                </a:moveTo>
                <a:lnTo>
                  <a:pt x="11737226" y="0"/>
                </a:lnTo>
                <a:lnTo>
                  <a:pt x="11737226" y="4632171"/>
                </a:lnTo>
                <a:lnTo>
                  <a:pt x="0" y="4632171"/>
                </a:lnTo>
                <a:lnTo>
                  <a:pt x="0" y="0"/>
                </a:lnTo>
                <a:close/>
              </a:path>
            </a:pathLst>
          </a:custGeom>
          <a:blipFill>
            <a:blip>
              <a:extLst>
                <a:ext uri="{96DAC541-7B7A-43D3-8B79-37D633B846F1}">
                  <asvg:svgBlip xmlns:asvg="http://schemas.microsoft.com/office/drawing/2016/SVG/main" r:embed="rId2"/>
                </a:ext>
              </a:extLst>
            </a:blip>
            <a:stretch>
              <a:fillRect r="-138626" b="-50757"/>
            </a:stretch>
          </a:blipFill>
        </p:spPr>
      </p:sp>
      <p:sp>
        <p:nvSpPr>
          <p:cNvPr id="3" name="Freeform 3"/>
          <p:cNvSpPr/>
          <p:nvPr/>
        </p:nvSpPr>
        <p:spPr>
          <a:xfrm rot="-10800000">
            <a:off x="15549135" y="1028700"/>
            <a:ext cx="1710165" cy="1710165"/>
          </a:xfrm>
          <a:custGeom>
            <a:avLst/>
            <a:gdLst/>
            <a:ahLst/>
            <a:cxnLst/>
            <a:rect l="l" t="t" r="r" b="b"/>
            <a:pathLst>
              <a:path w="1710165" h="1710165">
                <a:moveTo>
                  <a:pt x="0" y="0"/>
                </a:moveTo>
                <a:lnTo>
                  <a:pt x="1710165" y="0"/>
                </a:lnTo>
                <a:lnTo>
                  <a:pt x="1710165" y="1710165"/>
                </a:lnTo>
                <a:lnTo>
                  <a:pt x="0" y="171016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859468" y="8477264"/>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08207" y="459980"/>
            <a:ext cx="10283241"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API &amp; OUTPUT</a:t>
            </a:r>
          </a:p>
        </p:txBody>
      </p:sp>
      <p:sp>
        <p:nvSpPr>
          <p:cNvPr id="7" name="TextBox 7"/>
          <p:cNvSpPr txBox="1"/>
          <p:nvPr/>
        </p:nvSpPr>
        <p:spPr>
          <a:xfrm>
            <a:off x="2731906" y="3022435"/>
            <a:ext cx="13830768" cy="5239461"/>
          </a:xfrm>
          <a:prstGeom prst="rect">
            <a:avLst/>
          </a:prstGeom>
        </p:spPr>
        <p:txBody>
          <a:bodyPr lIns="0" tIns="0" rIns="0" bIns="0" rtlCol="0" anchor="t">
            <a:spAutoFit/>
          </a:bodyPr>
          <a:lstStyle/>
          <a:p>
            <a:pPr algn="l">
              <a:lnSpc>
                <a:spcPts val="4160"/>
              </a:lnSpc>
            </a:pPr>
            <a:r>
              <a:rPr lang="en-US" sz="2972">
                <a:solidFill>
                  <a:srgbClr val="273DAC"/>
                </a:solidFill>
                <a:latin typeface="Poppins"/>
                <a:ea typeface="Poppins"/>
                <a:cs typeface="Poppins"/>
                <a:sym typeface="Poppins"/>
              </a:rPr>
              <a:t>The model is deployed using FastAPI, which allows easy integration with applications.</a:t>
            </a:r>
          </a:p>
          <a:p>
            <a:pPr algn="l">
              <a:lnSpc>
                <a:spcPts val="4160"/>
              </a:lnSpc>
            </a:pPr>
            <a:r>
              <a:rPr lang="en-US" sz="2972">
                <a:solidFill>
                  <a:srgbClr val="273DAC"/>
                </a:solidFill>
                <a:latin typeface="Poppins"/>
                <a:ea typeface="Poppins"/>
                <a:cs typeface="Poppins"/>
                <a:sym typeface="Poppins"/>
              </a:rPr>
              <a:t>We create an endpoint /predict, where users can send CRM notes as input.</a:t>
            </a:r>
          </a:p>
          <a:p>
            <a:pPr algn="l">
              <a:lnSpc>
                <a:spcPts val="4160"/>
              </a:lnSpc>
            </a:pPr>
            <a:r>
              <a:rPr lang="en-US" sz="2972">
                <a:solidFill>
                  <a:srgbClr val="273DAC"/>
                </a:solidFill>
                <a:latin typeface="Poppins"/>
                <a:ea typeface="Poppins"/>
                <a:cs typeface="Poppins"/>
                <a:sym typeface="Poppins"/>
              </a:rPr>
              <a:t> The API processes the input using the trained model and returns the result.</a:t>
            </a:r>
          </a:p>
          <a:p>
            <a:pPr algn="l">
              <a:lnSpc>
                <a:spcPts val="4160"/>
              </a:lnSpc>
            </a:pPr>
            <a:r>
              <a:rPr lang="en-US" sz="2972">
                <a:solidFill>
                  <a:srgbClr val="273DAC"/>
                </a:solidFill>
                <a:latin typeface="Poppins"/>
                <a:ea typeface="Poppins"/>
                <a:cs typeface="Poppins"/>
                <a:sym typeface="Poppins"/>
              </a:rPr>
              <a:t>Output includes:</a:t>
            </a:r>
          </a:p>
          <a:p>
            <a:pPr marL="641660" lvl="1" indent="-320830" algn="l">
              <a:lnSpc>
                <a:spcPts val="4160"/>
              </a:lnSpc>
              <a:buFont typeface="Arial"/>
              <a:buChar char="•"/>
            </a:pPr>
            <a:r>
              <a:rPr lang="en-US" sz="2972">
                <a:solidFill>
                  <a:srgbClr val="273DAC"/>
                </a:solidFill>
                <a:latin typeface="Poppins"/>
                <a:ea typeface="Poppins"/>
                <a:cs typeface="Poppins"/>
                <a:sym typeface="Poppins"/>
              </a:rPr>
              <a:t>Predicted deal stage</a:t>
            </a:r>
          </a:p>
          <a:p>
            <a:pPr marL="641660" lvl="1" indent="-320830" algn="l">
              <a:lnSpc>
                <a:spcPts val="4160"/>
              </a:lnSpc>
              <a:buFont typeface="Arial"/>
              <a:buChar char="•"/>
            </a:pPr>
            <a:r>
              <a:rPr lang="en-US" sz="2972">
                <a:solidFill>
                  <a:srgbClr val="273DAC"/>
                </a:solidFill>
                <a:latin typeface="Poppins"/>
                <a:ea typeface="Poppins"/>
                <a:cs typeface="Poppins"/>
                <a:sym typeface="Poppins"/>
              </a:rPr>
              <a:t>Confidence score of the prediction</a:t>
            </a:r>
          </a:p>
          <a:p>
            <a:pPr algn="l">
              <a:lnSpc>
                <a:spcPts val="4160"/>
              </a:lnSpc>
            </a:pPr>
            <a:endParaRPr lang="en-US" sz="2972">
              <a:solidFill>
                <a:srgbClr val="273DAC"/>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796141" y="3591169"/>
            <a:ext cx="11491859" cy="6866386"/>
          </a:xfrm>
          <a:custGeom>
            <a:avLst/>
            <a:gdLst/>
            <a:ahLst/>
            <a:cxnLst/>
            <a:rect l="l" t="t" r="r" b="b"/>
            <a:pathLst>
              <a:path w="11491859" h="6866386">
                <a:moveTo>
                  <a:pt x="0" y="0"/>
                </a:moveTo>
                <a:lnTo>
                  <a:pt x="11491859" y="0"/>
                </a:lnTo>
                <a:lnTo>
                  <a:pt x="11491859" y="6866386"/>
                </a:lnTo>
                <a:lnTo>
                  <a:pt x="0" y="6866386"/>
                </a:lnTo>
                <a:lnTo>
                  <a:pt x="0" y="0"/>
                </a:lnTo>
                <a:close/>
              </a:path>
            </a:pathLst>
          </a:custGeom>
          <a:blipFill>
            <a:blip r:embed="rId2"/>
            <a:stretch>
              <a:fillRect/>
            </a:stretch>
          </a:blipFill>
        </p:spPr>
      </p:sp>
      <p:sp>
        <p:nvSpPr>
          <p:cNvPr id="3" name="Freeform 3"/>
          <p:cNvSpPr/>
          <p:nvPr/>
        </p:nvSpPr>
        <p:spPr>
          <a:xfrm>
            <a:off x="16486247" y="473297"/>
            <a:ext cx="1149139" cy="3257867"/>
          </a:xfrm>
          <a:custGeom>
            <a:avLst/>
            <a:gdLst/>
            <a:ahLst/>
            <a:cxnLst/>
            <a:rect l="l" t="t" r="r" b="b"/>
            <a:pathLst>
              <a:path w="1149139" h="3257867">
                <a:moveTo>
                  <a:pt x="0" y="0"/>
                </a:moveTo>
                <a:lnTo>
                  <a:pt x="1149139" y="0"/>
                </a:lnTo>
                <a:lnTo>
                  <a:pt x="1149139" y="3257868"/>
                </a:lnTo>
                <a:lnTo>
                  <a:pt x="0" y="325786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663220" y="3514969"/>
            <a:ext cx="14416390" cy="4546888"/>
          </a:xfrm>
          <a:prstGeom prst="rect">
            <a:avLst/>
          </a:prstGeom>
        </p:spPr>
        <p:txBody>
          <a:bodyPr lIns="0" tIns="0" rIns="0" bIns="0" rtlCol="0" anchor="t">
            <a:spAutoFit/>
          </a:bodyPr>
          <a:lstStyle/>
          <a:p>
            <a:pPr marL="618267" lvl="1" indent="-309133" algn="l">
              <a:lnSpc>
                <a:spcPts val="4009"/>
              </a:lnSpc>
              <a:buFont typeface="Arial"/>
              <a:buChar char="•"/>
            </a:pPr>
            <a:r>
              <a:rPr lang="en-US" sz="2863">
                <a:solidFill>
                  <a:srgbClr val="273DAC"/>
                </a:solidFill>
                <a:latin typeface="Poppins"/>
                <a:ea typeface="Poppins"/>
                <a:cs typeface="Poppins"/>
                <a:sym typeface="Poppins"/>
              </a:rPr>
              <a:t>This project successfully automates the prediction of deal stages using AI, reducing the need for manual updates in CRM systems.</a:t>
            </a:r>
          </a:p>
          <a:p>
            <a:pPr marL="618267" lvl="1" indent="-309133" algn="l">
              <a:lnSpc>
                <a:spcPts val="4009"/>
              </a:lnSpc>
              <a:buFont typeface="Arial"/>
              <a:buChar char="•"/>
            </a:pPr>
            <a:r>
              <a:rPr lang="en-US" sz="2863">
                <a:solidFill>
                  <a:srgbClr val="273DAC"/>
                </a:solidFill>
                <a:latin typeface="Poppins"/>
                <a:ea typeface="Poppins"/>
                <a:cs typeface="Poppins"/>
                <a:sym typeface="Poppins"/>
              </a:rPr>
              <a:t>It improves efficiency and accuracy by analyzing CRM notes and predicting the correct stage in real time.</a:t>
            </a:r>
          </a:p>
          <a:p>
            <a:pPr marL="618267" lvl="1" indent="-309133" algn="l">
              <a:lnSpc>
                <a:spcPts val="4009"/>
              </a:lnSpc>
              <a:buFont typeface="Arial"/>
              <a:buChar char="•"/>
            </a:pPr>
            <a:r>
              <a:rPr lang="en-US" sz="2863">
                <a:solidFill>
                  <a:srgbClr val="273DAC"/>
                </a:solidFill>
                <a:latin typeface="Poppins"/>
                <a:ea typeface="Poppins"/>
                <a:cs typeface="Poppins"/>
                <a:sym typeface="Poppins"/>
              </a:rPr>
              <a:t> The system also helps organizations make faster and better decisions based on reliable data.</a:t>
            </a:r>
          </a:p>
          <a:p>
            <a:pPr marL="618267" lvl="1" indent="-309133" algn="l">
              <a:lnSpc>
                <a:spcPts val="4009"/>
              </a:lnSpc>
              <a:buFont typeface="Arial"/>
              <a:buChar char="•"/>
            </a:pPr>
            <a:r>
              <a:rPr lang="en-US" sz="2863">
                <a:solidFill>
                  <a:srgbClr val="273DAC"/>
                </a:solidFill>
                <a:latin typeface="Poppins"/>
                <a:ea typeface="Poppins"/>
                <a:cs typeface="Poppins"/>
                <a:sym typeface="Poppins"/>
              </a:rPr>
              <a:t>Overall, this solution is highly useful for sales analytics and pipeline management.</a:t>
            </a:r>
          </a:p>
          <a:p>
            <a:pPr algn="l">
              <a:lnSpc>
                <a:spcPts val="4009"/>
              </a:lnSpc>
            </a:pPr>
            <a:endParaRPr lang="en-US" sz="2863">
              <a:solidFill>
                <a:srgbClr val="273DAC"/>
              </a:solidFill>
              <a:latin typeface="Poppins"/>
              <a:ea typeface="Poppins"/>
              <a:cs typeface="Poppins"/>
              <a:sym typeface="Poppins"/>
            </a:endParaRPr>
          </a:p>
        </p:txBody>
      </p:sp>
      <p:sp>
        <p:nvSpPr>
          <p:cNvPr id="5" name="Freeform 5"/>
          <p:cNvSpPr/>
          <p:nvPr/>
        </p:nvSpPr>
        <p:spPr>
          <a:xfrm>
            <a:off x="1028700" y="8477264"/>
            <a:ext cx="2399832" cy="781036"/>
          </a:xfrm>
          <a:custGeom>
            <a:avLst/>
            <a:gdLst/>
            <a:ahLst/>
            <a:cxnLst/>
            <a:rect l="l" t="t" r="r" b="b"/>
            <a:pathLst>
              <a:path w="2399832" h="781036">
                <a:moveTo>
                  <a:pt x="0" y="0"/>
                </a:moveTo>
                <a:lnTo>
                  <a:pt x="2399832" y="0"/>
                </a:lnTo>
                <a:lnTo>
                  <a:pt x="2399832" y="781036"/>
                </a:lnTo>
                <a:lnTo>
                  <a:pt x="0" y="7810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180471" y="748782"/>
            <a:ext cx="7597974" cy="2423287"/>
          </a:xfrm>
          <a:prstGeom prst="rect">
            <a:avLst/>
          </a:prstGeom>
        </p:spPr>
        <p:txBody>
          <a:bodyPr lIns="0" tIns="0" rIns="0" bIns="0" rtlCol="0" anchor="t">
            <a:spAutoFit/>
          </a:bodyPr>
          <a:lstStyle/>
          <a:p>
            <a:pPr algn="ctr">
              <a:lnSpc>
                <a:spcPts val="19822"/>
              </a:lnSpc>
            </a:pPr>
            <a:r>
              <a:rPr lang="en-US" sz="14158">
                <a:solidFill>
                  <a:srgbClr val="273DAC"/>
                </a:solidFill>
                <a:latin typeface="Bebas Neue Cyrillic"/>
                <a:ea typeface="Bebas Neue Cyrillic"/>
                <a:cs typeface="Bebas Neue Cyrillic"/>
                <a:sym typeface="Bebas Neue Cyrillic"/>
              </a:rPr>
              <a:t>CONCLUSION</a:t>
            </a:r>
          </a:p>
        </p:txBody>
      </p:sp>
      <p:sp>
        <p:nvSpPr>
          <p:cNvPr id="7" name="Freeform 7"/>
          <p:cNvSpPr/>
          <p:nvPr/>
        </p:nvSpPr>
        <p:spPr>
          <a:xfrm flipH="1">
            <a:off x="0" y="0"/>
            <a:ext cx="13276646" cy="2741084"/>
          </a:xfrm>
          <a:custGeom>
            <a:avLst/>
            <a:gdLst/>
            <a:ahLst/>
            <a:cxnLst/>
            <a:rect l="l" t="t" r="r" b="b"/>
            <a:pathLst>
              <a:path w="13276646" h="2741084">
                <a:moveTo>
                  <a:pt x="13276646" y="0"/>
                </a:moveTo>
                <a:lnTo>
                  <a:pt x="0" y="0"/>
                </a:lnTo>
                <a:lnTo>
                  <a:pt x="0" y="2741084"/>
                </a:lnTo>
                <a:lnTo>
                  <a:pt x="13276646" y="2741084"/>
                </a:lnTo>
                <a:lnTo>
                  <a:pt x="13276646" y="0"/>
                </a:lnTo>
                <a:close/>
              </a:path>
            </a:pathLst>
          </a:custGeom>
          <a:blipFill>
            <a:blip>
              <a:alphaModFix amt="12000"/>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958062" y="3435225"/>
            <a:ext cx="18677102" cy="3856057"/>
          </a:xfrm>
          <a:custGeom>
            <a:avLst/>
            <a:gdLst/>
            <a:ahLst/>
            <a:cxnLst/>
            <a:rect l="l" t="t" r="r" b="b"/>
            <a:pathLst>
              <a:path w="18677102" h="3856057">
                <a:moveTo>
                  <a:pt x="18677102" y="0"/>
                </a:moveTo>
                <a:lnTo>
                  <a:pt x="0" y="0"/>
                </a:lnTo>
                <a:lnTo>
                  <a:pt x="0" y="3856057"/>
                </a:lnTo>
                <a:lnTo>
                  <a:pt x="18677102" y="3856057"/>
                </a:lnTo>
                <a:lnTo>
                  <a:pt x="18677102" y="0"/>
                </a:lnTo>
                <a:close/>
              </a:path>
            </a:pathLst>
          </a:custGeom>
          <a:blipFill>
            <a:blip>
              <a:alphaModFix amt="12000"/>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0" y="1715078"/>
            <a:ext cx="14346313" cy="8571922"/>
          </a:xfrm>
          <a:custGeom>
            <a:avLst/>
            <a:gdLst/>
            <a:ahLst/>
            <a:cxnLst/>
            <a:rect l="l" t="t" r="r" b="b"/>
            <a:pathLst>
              <a:path w="14346313" h="8571922">
                <a:moveTo>
                  <a:pt x="14346313" y="0"/>
                </a:moveTo>
                <a:lnTo>
                  <a:pt x="0" y="0"/>
                </a:lnTo>
                <a:lnTo>
                  <a:pt x="0" y="8571922"/>
                </a:lnTo>
                <a:lnTo>
                  <a:pt x="14346313" y="8571922"/>
                </a:lnTo>
                <a:lnTo>
                  <a:pt x="14346313" y="0"/>
                </a:lnTo>
                <a:close/>
              </a:path>
            </a:pathLst>
          </a:custGeom>
          <a:blipFill>
            <a:blip r:embed="rId3"/>
            <a:stretch>
              <a:fillRect/>
            </a:stretch>
          </a:blipFill>
        </p:spPr>
      </p:sp>
      <p:sp>
        <p:nvSpPr>
          <p:cNvPr id="4" name="TextBox 4"/>
          <p:cNvSpPr txBox="1"/>
          <p:nvPr/>
        </p:nvSpPr>
        <p:spPr>
          <a:xfrm>
            <a:off x="3246679" y="2386346"/>
            <a:ext cx="11794641" cy="3901726"/>
          </a:xfrm>
          <a:prstGeom prst="rect">
            <a:avLst/>
          </a:prstGeom>
        </p:spPr>
        <p:txBody>
          <a:bodyPr lIns="0" tIns="0" rIns="0" bIns="0" rtlCol="0" anchor="t">
            <a:spAutoFit/>
          </a:bodyPr>
          <a:lstStyle/>
          <a:p>
            <a:pPr algn="ctr">
              <a:lnSpc>
                <a:spcPts val="31928"/>
              </a:lnSpc>
            </a:pPr>
            <a:r>
              <a:rPr lang="en-US" sz="22806">
                <a:solidFill>
                  <a:srgbClr val="273DAC"/>
                </a:solidFill>
                <a:latin typeface="Bebas Neue Cyrillic"/>
                <a:ea typeface="Bebas Neue Cyrillic"/>
                <a:cs typeface="Bebas Neue Cyrillic"/>
                <a:sym typeface="Bebas Neue Cyrillic"/>
              </a:rPr>
              <a:t>THANK YOU</a:t>
            </a:r>
          </a:p>
        </p:txBody>
      </p:sp>
      <p:sp>
        <p:nvSpPr>
          <p:cNvPr id="5" name="Freeform 5"/>
          <p:cNvSpPr/>
          <p:nvPr/>
        </p:nvSpPr>
        <p:spPr>
          <a:xfrm flipH="1" flipV="1">
            <a:off x="13283282" y="-104775"/>
            <a:ext cx="5079898" cy="5079898"/>
          </a:xfrm>
          <a:custGeom>
            <a:avLst/>
            <a:gdLst/>
            <a:ahLst/>
            <a:cxnLst/>
            <a:rect l="l" t="t" r="r" b="b"/>
            <a:pathLst>
              <a:path w="5079898" h="5079898">
                <a:moveTo>
                  <a:pt x="5079898" y="5079898"/>
                </a:moveTo>
                <a:lnTo>
                  <a:pt x="0" y="5079898"/>
                </a:lnTo>
                <a:lnTo>
                  <a:pt x="0" y="0"/>
                </a:lnTo>
                <a:lnTo>
                  <a:pt x="5079898" y="0"/>
                </a:lnTo>
                <a:lnTo>
                  <a:pt x="5079898" y="5079898"/>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698</Words>
  <Application>Microsoft Office PowerPoint</Application>
  <PresentationFormat>Custom</PresentationFormat>
  <Paragraphs>85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Bebas Neue Cyrillic</vt:lpstr>
      <vt:lpstr>Calibri</vt:lpstr>
      <vt:lpstr>Arial</vt:lpstr>
      <vt:lpstr>Poppins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Lilac Geometric Group Project Presentation</dc:title>
  <dc:creator>AP23110011389</dc:creator>
  <cp:lastModifiedBy>Pola Evangeline</cp:lastModifiedBy>
  <cp:revision>2</cp:revision>
  <dcterms:created xsi:type="dcterms:W3CDTF">2006-08-16T00:00:00Z</dcterms:created>
  <dcterms:modified xsi:type="dcterms:W3CDTF">2026-04-29T07:51:44Z</dcterms:modified>
  <dc:identifier>DAG5OPF9_sM</dc:identifier>
</cp:coreProperties>
</file>